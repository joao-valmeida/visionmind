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6" name="Google Shape;30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1" name="Google Shape;3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5" name="Google Shape;48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2" name="Google Shape;5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0" name="Google Shape;56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9" name="Google Shape;60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8" name="Google Shape;65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A3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7406640" y="-457200"/>
            <a:ext cx="2011680" cy="2011680"/>
          </a:xfrm>
          <a:prstGeom prst="ellipse">
            <a:avLst/>
          </a:prstGeom>
          <a:solidFill>
            <a:srgbClr val="00B4D8">
              <a:alpha val="30196"/>
            </a:srgbClr>
          </a:solidFill>
          <a:ln cap="flat" cmpd="sng" w="12700">
            <a:solidFill>
              <a:srgbClr val="00B4D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7132320" y="1371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Pós·Unifor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73152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Computação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1463040"/>
            <a:ext cx="6858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Sem Servidores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2304288"/>
            <a:ext cx="502920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457200" y="2468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CURSO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57200" y="2633472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Pós-Graduação Lato Sensu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457200" y="2944368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INSTITUIÇÃO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457200" y="3108960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Universidade de Fortaleza – UNIFOR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457200" y="3419856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CARGA HORÁRIA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457200" y="358444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20h  ·  5 dias  ·  Semestre 2026.1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57200" y="39136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⚡  Plataformas: AWS Lambda  ·  Azure Functions  ·  Knative / Kubernetes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457200" y="425196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Prof. Bruno Vinícius Barroso Cavalcanti  ·  AWS Solutions Architect Professional  ·  CKA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060E20"/>
          </a:solidFill>
          <a:ln cap="flat" cmpd="sng" w="12700">
            <a:solidFill>
              <a:srgbClr val="060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274320" y="48463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Pós·Unifor  |  Centro de Pós-Graduação  |  unifor.br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B5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182880" y="45720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Bruno Vinícius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82880" y="86868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Barroso Cavalcanti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82880" y="1417320"/>
            <a:ext cx="1280160" cy="25603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82880" y="141732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AWS SAP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82880" y="1728216"/>
            <a:ext cx="1280160" cy="25603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182880" y="17282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CKA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82880" y="2039112"/>
            <a:ext cx="1280160" cy="25603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82880" y="2039112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Terraform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82880" y="2350008"/>
            <a:ext cx="1280160" cy="25603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182880" y="235000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Linux+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82880" y="27889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Especialista SRE · Cloud Architect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82880" y="3063240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linkedin.com/in/bruno-cavalcanti-sre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91440" y="46634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b="0" i="0" lang="en-US" sz="7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Pós-UNIFOR  ·  2026.1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291840" y="0"/>
            <a:ext cx="5852160" cy="50292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3474720" y="4572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Sobre o Professor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3291840" y="502920"/>
            <a:ext cx="585216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3429000" y="685800"/>
            <a:ext cx="5486400" cy="868680"/>
          </a:xfrm>
          <a:prstGeom prst="rect">
            <a:avLst/>
          </a:prstGeom>
          <a:solidFill>
            <a:srgbClr val="0D2040"/>
          </a:solidFill>
          <a:ln cap="flat" cmpd="sng" w="12700">
            <a:solidFill>
              <a:srgbClr val="0D204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127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3566160" y="740664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🏢  Experiência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3566160" y="996696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14+ anos em infraestrutura de TI, SRE e Cloud Architecture. Consultor em projetos de missão crítica para saúde, fintech e e-commerce.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3429000" y="1636776"/>
            <a:ext cx="5486400" cy="868680"/>
          </a:xfrm>
          <a:prstGeom prst="rect">
            <a:avLst/>
          </a:prstGeom>
          <a:solidFill>
            <a:srgbClr val="0D2040"/>
          </a:solidFill>
          <a:ln cap="flat" cmpd="sng" w="12700">
            <a:solidFill>
              <a:srgbClr val="0D204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127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3566160" y="169164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⚡  Serverless na Prática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3566160" y="194767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Projetos reais com AWS Lambda, Step Functions, EventBridge, Azure Functions, Knative e Kubernetes em produção.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429000" y="2587752"/>
            <a:ext cx="5486400" cy="868680"/>
          </a:xfrm>
          <a:prstGeom prst="rect">
            <a:avLst/>
          </a:prstGeom>
          <a:solidFill>
            <a:srgbClr val="0D2040"/>
          </a:solidFill>
          <a:ln cap="flat" cmpd="sng" w="12700">
            <a:solidFill>
              <a:srgbClr val="0D204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127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3566160" y="2642616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🎓  Formação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3566160" y="2898648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Pós-Graduado em Cloud Computing · AWS Solutions Architect Professional · CKA (Certified Kubernetes Administrator).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3429000" y="3538728"/>
            <a:ext cx="5486400" cy="868680"/>
          </a:xfrm>
          <a:prstGeom prst="rect">
            <a:avLst/>
          </a:prstGeom>
          <a:solidFill>
            <a:srgbClr val="0D2040"/>
          </a:solidFill>
          <a:ln cap="flat" cmpd="sng" w="12700">
            <a:solidFill>
              <a:srgbClr val="0D204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127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3566160" y="3593592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📚  Ensino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3566160" y="3849624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Professor de pós-graduação na UNIFOR. Criador de cursos na Alura. Especialidade em tornar infraestrutura complexa acessível e prática.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Metodologia de Ensino — Como Funcionam as Aulas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274320" y="82296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🕐  Horários das Aulas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274320" y="1170432"/>
            <a:ext cx="3931920" cy="84124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274320" y="1170432"/>
            <a:ext cx="64008" cy="8412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5"/>
          <p:cNvSpPr/>
          <p:nvPr/>
        </p:nvSpPr>
        <p:spPr>
          <a:xfrm>
            <a:off x="411480" y="1225296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🌙  Aulas de Semana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11480" y="146304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19:00 às 22:30  ·  com intervalo de 20 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11480" y="166420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Aula direta: liberação às 22:10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274320" y="2103120"/>
            <a:ext cx="3931920" cy="84124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274320" y="2103120"/>
            <a:ext cx="64008" cy="8412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411480" y="2157984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☀  Aulas de Sábado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411480" y="239572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08:00 às 12:00  ·  com intervalo de 20 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411480" y="2596896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Aula direta: liberação às 11:40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274320" y="3108960"/>
            <a:ext cx="3931920" cy="45720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365760" y="3127248"/>
            <a:ext cx="3749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📅  Dias de Aula:  12 · 13  de jun  e  18 · 19 · 20  de jun 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4434840" y="822960"/>
            <a:ext cx="36576" cy="3840480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4663440" y="822960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📋  Dinâmica das Aulas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4663440" y="1170432"/>
            <a:ext cx="4206240" cy="804672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4709160" y="121615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🧪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5166360" y="1216152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Teoria + Laboratório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166360" y="1472184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Cada tópico é apresentado com conceito teórico + hands-on prático (AWS / Azure / Kubernetes).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663440" y="2066544"/>
            <a:ext cx="4206240" cy="804672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4709160" y="2112264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📈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5166360" y="2112264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Progressão Incremental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5166360" y="2368296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Do Dia 1 ao 4, você constrói componentes que se unem no projeto final.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4663440" y="2962656"/>
            <a:ext cx="4206240" cy="804672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4709160" y="3008376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5166360" y="3008376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Mentoria no Dia 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5166360" y="3264408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Parte final do Dia 4 dedicada a tirar dúvidas para o Projeto Final.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4663440" y="3858768"/>
            <a:ext cx="4206240" cy="804672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4709160" y="3904488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🏆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5166360" y="3904488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Defesa no Dia 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166360" y="4160520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Prof. como Arquiteto Sênior · Você como Engenheiro de Plataforma. Defesa técnica.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Critérios de Aprovação — Normas da Pós-Graduação UNIFOR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6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274320" y="822960"/>
            <a:ext cx="4206240" cy="33832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762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274320" y="822960"/>
            <a:ext cx="4206240" cy="41148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411480" y="841248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CRITÉRIO 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11480" y="132588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📊  Média Final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108960" y="1280160"/>
            <a:ext cx="1188720" cy="5029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3108960" y="128016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≥ 7,0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411480" y="1920240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aluno precisa atingir média final mínima de 7,0 para ser aprovado.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411480" y="2359152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NF = (Média Labs × 0,30) + (Nota Projeto Final × 0,70)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411480" y="2798064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⚠  Nota abaixo de 7,0 resulta em reprovação, independente da frequência.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4754880" y="822960"/>
            <a:ext cx="4206240" cy="33832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762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4754880" y="822960"/>
            <a:ext cx="4206240" cy="41148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4892040" y="841248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CRITÉRIO 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4892040" y="132588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📅  Frequência Mínima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589520" y="1280160"/>
            <a:ext cx="1188720" cy="50292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7589520" y="128016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≥ 75%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892040" y="1920240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aluno precisa de no mínimo 75% de frequência nas aulas para ser aprovado.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892040" y="2359152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Em uma disciplina de 5 dias, são permitidas no máximo 1 falta.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4892040" y="2798064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⚠  Frequência abaixo de 75% resulta em reprovação, mesmo com nota suficiente.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274320" y="4315968"/>
            <a:ext cx="8595360" cy="36576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365760" y="4334256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✅  APROVADO = Critério 01 (Nota ≥ 7,0)   E   Critério 02 (Frequência ≥ 75%)  —  Ambos devem ser atendidos simultaneamente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Estrutura da Disciplina  —  5 Unidades · 20 Horas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274320" y="804672"/>
            <a:ext cx="640080" cy="6583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274320" y="804672"/>
            <a:ext cx="640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960120" y="804672"/>
            <a:ext cx="7223760" cy="6583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1097280" y="85953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Fundamentos Serverless e FaaS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97280" y="11338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Paradigma · Modelos de Execução · Cold Start · EDA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8046720" y="804672"/>
            <a:ext cx="914400" cy="658368"/>
          </a:xfrm>
          <a:prstGeom prst="rect">
            <a:avLst/>
          </a:prstGeom>
          <a:solidFill>
            <a:srgbClr val="00B4D8">
              <a:alpha val="20000"/>
            </a:srgbClr>
          </a:solidFill>
          <a:ln cap="flat" cmpd="sng" w="12700">
            <a:solidFill>
              <a:srgbClr val="00B4D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8046720" y="804672"/>
            <a:ext cx="9144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4h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74320" y="1554480"/>
            <a:ext cx="640080" cy="658368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4320" y="1554480"/>
            <a:ext cx="640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960120" y="1554480"/>
            <a:ext cx="7223760" cy="6583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1097280" y="160934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AWS Lambda Avançado e Integrações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97280" y="188366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Step Functions · EventBridge · API Gateway · Segurança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8046720" y="1554480"/>
            <a:ext cx="914400" cy="658368"/>
          </a:xfrm>
          <a:prstGeom prst="rect">
            <a:avLst/>
          </a:prstGeom>
          <a:solidFill>
            <a:srgbClr val="F5A623">
              <a:alpha val="20000"/>
            </a:srgbClr>
          </a:solidFill>
          <a:ln cap="flat" cmpd="sng" w="12700">
            <a:solidFill>
              <a:srgbClr val="F5A623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8046720" y="1554480"/>
            <a:ext cx="9144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4h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274320" y="2304288"/>
            <a:ext cx="640080" cy="658368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274320" y="2304288"/>
            <a:ext cx="640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960120" y="2304288"/>
            <a:ext cx="7223760" cy="6583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1097280" y="235915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Azure Functions e Multi-Cloud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097280" y="263347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Planos · Bindings · Durable Functions · Comparativo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8046720" y="2304288"/>
            <a:ext cx="914400" cy="658368"/>
          </a:xfrm>
          <a:prstGeom prst="rect">
            <a:avLst/>
          </a:prstGeom>
          <a:solidFill>
            <a:srgbClr val="7C3AED">
              <a:alpha val="20000"/>
            </a:srgbClr>
          </a:solidFill>
          <a:ln cap="flat" cmpd="sng" w="12700">
            <a:solidFill>
              <a:srgbClr val="7C3AED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046720" y="2304288"/>
            <a:ext cx="9144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4h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274320" y="3054096"/>
            <a:ext cx="640080" cy="65836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274320" y="3054096"/>
            <a:ext cx="640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960120" y="3054096"/>
            <a:ext cx="7223760" cy="6583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1097280" y="310896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Kubernetes Nativo com Knative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1097280" y="3383280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Serving · Eventing · Autoscaling · Observabilidade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8046720" y="3054096"/>
            <a:ext cx="914400" cy="658368"/>
          </a:xfrm>
          <a:prstGeom prst="rect">
            <a:avLst/>
          </a:prstGeom>
          <a:solidFill>
            <a:srgbClr val="0D9488">
              <a:alpha val="20000"/>
            </a:srgbClr>
          </a:solidFill>
          <a:ln cap="flat" cmpd="sng" w="12700">
            <a:solidFill>
              <a:srgbClr val="0D948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8046720" y="3054096"/>
            <a:ext cx="9144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4h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4320" y="3803904"/>
            <a:ext cx="640080" cy="658368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274320" y="3803904"/>
            <a:ext cx="640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960120" y="3803904"/>
            <a:ext cx="7223760" cy="6583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7"/>
          <p:cNvSpPr/>
          <p:nvPr/>
        </p:nvSpPr>
        <p:spPr>
          <a:xfrm>
            <a:off x="1097280" y="3858768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Projeto Final Aplicado — Defesa Técnica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1097280" y="413308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Arquitetura Multi-plataforma · FinOps · Segurança · Defesa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8046720" y="3803904"/>
            <a:ext cx="914400" cy="658368"/>
          </a:xfrm>
          <a:prstGeom prst="rect">
            <a:avLst/>
          </a:prstGeom>
          <a:solidFill>
            <a:srgbClr val="10B981">
              <a:alpha val="20000"/>
            </a:srgbClr>
          </a:solidFill>
          <a:ln cap="flat" cmpd="sng" w="12700">
            <a:solidFill>
              <a:srgbClr val="10B98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8046720" y="3803904"/>
            <a:ext cx="9144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4h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274320" y="4599432"/>
            <a:ext cx="8686800" cy="329184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7"/>
          <p:cNvSpPr/>
          <p:nvPr/>
        </p:nvSpPr>
        <p:spPr>
          <a:xfrm>
            <a:off x="457200" y="4617720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TOTAL: 20 horas  ·  5 dias de aula  ·  12, 13, 18, 19 e 20 de junho de 2026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B5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"/>
          <p:cNvSpPr/>
          <p:nvPr/>
        </p:nvSpPr>
        <p:spPr>
          <a:xfrm>
            <a:off x="5943600" y="182880"/>
            <a:ext cx="3657600" cy="3657600"/>
          </a:xfrm>
          <a:prstGeom prst="ellipse">
            <a:avLst/>
          </a:prstGeom>
          <a:solidFill>
            <a:srgbClr val="00B4D8">
              <a:alpha val="14901"/>
            </a:srgbClr>
          </a:solidFill>
          <a:ln cap="flat" cmpd="sng" w="12700">
            <a:solidFill>
              <a:srgbClr val="00B4D8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6858000" y="1097280"/>
            <a:ext cx="2286000" cy="2286000"/>
          </a:xfrm>
          <a:prstGeom prst="ellipse">
            <a:avLst/>
          </a:prstGeom>
          <a:solidFill>
            <a:srgbClr val="00B4D8">
              <a:alpha val="30196"/>
            </a:srgbClr>
          </a:solidFill>
          <a:ln cap="flat" cmpd="sng" w="12700">
            <a:solidFill>
              <a:srgbClr val="00B4D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457200" y="731520"/>
            <a:ext cx="5029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Unidade 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457200" y="1371600"/>
            <a:ext cx="5943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Fundamentos Serverless e FaaS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57200" y="1920240"/>
            <a:ext cx="365760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457200" y="210312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O que é o paradigma Serverless?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457200" y="237744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Function-as-a-Service (FaaS)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57200" y="265176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Arquitetura Orientada a Eventos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457200" y="292608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Cold Start · Warm Start · Lifecycle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457200" y="320040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Comparativo: Serverless vs Containers vs VMs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7315200" y="4773168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Pós·Unifor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274320" y="477316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horas  ·  Dia 1 de aula  (12/06/2026  19h)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 que é Computação Sem Servidores?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Paradigma · Evolução · FaaS · Event-Driven Architecture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74320" y="1005840"/>
            <a:ext cx="2834640" cy="13258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274320" y="1005840"/>
            <a:ext cx="64008" cy="132588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411480" y="106070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Paradigma Serverless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411480" y="1371600"/>
            <a:ext cx="2606040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desenvolvedor foca no código, sem gerenciar infraestrutura. O provedor provisiona, escala e cobra apenas pela execução.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3246120" y="1005840"/>
            <a:ext cx="2834640" cy="13258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3246120" y="1005840"/>
            <a:ext cx="64008" cy="132588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3383280" y="106070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Function-as-a-Service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3383280" y="1371600"/>
            <a:ext cx="2606040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Unidade de deploy é uma função. Executada em resposta a eventos. Stateless por natureza. Auto-scale automático.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6217920" y="1005840"/>
            <a:ext cx="2834640" cy="13258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6217920" y="1005840"/>
            <a:ext cx="64008" cy="132588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6355080" y="106070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Event-Driven Arch.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6355080" y="1371600"/>
            <a:ext cx="2606040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Componentes se comunicam via eventos assíncronos (fila, tópico, webhook). Alta coesão + baixo acoplamento.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274320" y="248716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Ciclo de Vida de uma Função (FaaS)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274320" y="2834640"/>
            <a:ext cx="1371600" cy="50292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274320" y="283464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Evento Gatilho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1664208" y="296265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1755648" y="2834640"/>
            <a:ext cx="1371600" cy="502920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755648" y="283464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Container Init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145536" y="296265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3236976" y="2834640"/>
            <a:ext cx="1371600" cy="50292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3236976" y="283464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Cold Start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4626864" y="296265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4718304" y="2834640"/>
            <a:ext cx="1371600" cy="5029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4718304" y="283464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Execução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6108192" y="296265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6199632" y="2834640"/>
            <a:ext cx="1371600" cy="502920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6199632" y="283464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Idle / Warm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7589520" y="296265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680960" y="2834640"/>
            <a:ext cx="1371600" cy="502920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7680960" y="283464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Término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274320" y="349300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Comparativo: Serverless vs Containers vs VMs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274320" y="3822192"/>
            <a:ext cx="2286000" cy="2011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320040" y="3822192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Critério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2560320" y="3822192"/>
            <a:ext cx="1828800" cy="2011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2606040" y="3822192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Serverless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4389120" y="3822192"/>
            <a:ext cx="1828800" cy="2011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4434840" y="3822192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Containers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6217920" y="3822192"/>
            <a:ext cx="1828800" cy="2011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6263640" y="3822192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VMs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274320" y="4023360"/>
            <a:ext cx="22860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320040" y="4023360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Gestão de Infra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2560320" y="4023360"/>
            <a:ext cx="18288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606040" y="4023360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Nenhuma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4389120" y="4023360"/>
            <a:ext cx="18288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4434840" y="4023360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Parcial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6217920" y="4023360"/>
            <a:ext cx="18288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6263640" y="4023360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274320" y="4224528"/>
            <a:ext cx="22860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320040" y="422452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Escala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2560320" y="4224528"/>
            <a:ext cx="18288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9"/>
          <p:cNvSpPr/>
          <p:nvPr/>
        </p:nvSpPr>
        <p:spPr>
          <a:xfrm>
            <a:off x="2606040" y="4224528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Automática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4389120" y="4224528"/>
            <a:ext cx="18288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9"/>
          <p:cNvSpPr/>
          <p:nvPr/>
        </p:nvSpPr>
        <p:spPr>
          <a:xfrm>
            <a:off x="4434840" y="4224528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Manual/Auto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217920" y="4224528"/>
            <a:ext cx="18288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6263640" y="4224528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Manual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274320" y="4425696"/>
            <a:ext cx="22860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9"/>
          <p:cNvSpPr/>
          <p:nvPr/>
        </p:nvSpPr>
        <p:spPr>
          <a:xfrm>
            <a:off x="320040" y="4425696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Custo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2560320" y="4425696"/>
            <a:ext cx="18288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9"/>
          <p:cNvSpPr/>
          <p:nvPr/>
        </p:nvSpPr>
        <p:spPr>
          <a:xfrm>
            <a:off x="2606040" y="442569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Por execução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4389120" y="4425696"/>
            <a:ext cx="18288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9"/>
          <p:cNvSpPr/>
          <p:nvPr/>
        </p:nvSpPr>
        <p:spPr>
          <a:xfrm>
            <a:off x="4434840" y="442569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Por hora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6217920" y="4425696"/>
            <a:ext cx="1828800" cy="201168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9"/>
          <p:cNvSpPr/>
          <p:nvPr/>
        </p:nvSpPr>
        <p:spPr>
          <a:xfrm>
            <a:off x="6263640" y="442569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Por hora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274320" y="4626864"/>
            <a:ext cx="22860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9"/>
          <p:cNvSpPr/>
          <p:nvPr/>
        </p:nvSpPr>
        <p:spPr>
          <a:xfrm>
            <a:off x="320040" y="4626864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Cold Start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2560320" y="4626864"/>
            <a:ext cx="18288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9"/>
          <p:cNvSpPr/>
          <p:nvPr/>
        </p:nvSpPr>
        <p:spPr>
          <a:xfrm>
            <a:off x="2606040" y="4626864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Presente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4389120" y="4626864"/>
            <a:ext cx="18288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9"/>
          <p:cNvSpPr/>
          <p:nvPr/>
        </p:nvSpPr>
        <p:spPr>
          <a:xfrm>
            <a:off x="4434840" y="4626864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Baixo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6217920" y="4626864"/>
            <a:ext cx="1828800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9"/>
          <p:cNvSpPr/>
          <p:nvPr/>
        </p:nvSpPr>
        <p:spPr>
          <a:xfrm>
            <a:off x="6263640" y="4626864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Nenhum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A35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0"/>
          <p:cNvSpPr/>
          <p:nvPr/>
        </p:nvSpPr>
        <p:spPr>
          <a:xfrm>
            <a:off x="6217920" y="457200"/>
            <a:ext cx="3200400" cy="3200400"/>
          </a:xfrm>
          <a:prstGeom prst="ellipse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0"/>
          <p:cNvSpPr/>
          <p:nvPr/>
        </p:nvSpPr>
        <p:spPr>
          <a:xfrm>
            <a:off x="6675120" y="822960"/>
            <a:ext cx="2286000" cy="2286000"/>
          </a:xfrm>
          <a:prstGeom prst="ellipse">
            <a:avLst/>
          </a:prstGeom>
          <a:solidFill>
            <a:srgbClr val="00B4D8">
              <a:alpha val="30196"/>
            </a:srgbClr>
          </a:solidFill>
          <a:ln cap="flat" cmpd="sng" w="12700">
            <a:solidFill>
              <a:srgbClr val="00B4D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0"/>
          <p:cNvSpPr/>
          <p:nvPr/>
        </p:nvSpPr>
        <p:spPr>
          <a:xfrm>
            <a:off x="457200" y="64008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Unidade II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AWS Lambda Avançado e Integrações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457200" y="1828800"/>
            <a:ext cx="3657600" cy="5486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457200" y="199339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Modelo de execução e anatomia de uma Lambda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457200" y="227685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Layers · Aliases · Versões · Concorrência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457200" y="256032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Integração: API Gateway · SQS · SNS · EventBridge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457200" y="284378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Orquestração com AWS Step Functions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457200" y="3127248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Segurança: IAM roles · VPC · Secrets Manager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0"/>
          <p:cNvSpPr/>
          <p:nvPr/>
        </p:nvSpPr>
        <p:spPr>
          <a:xfrm>
            <a:off x="457200" y="341071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FinOps: Cold Start, Arm64, Power Tuning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60E20"/>
          </a:solidFill>
          <a:ln cap="flat" cmpd="sng" w="12700">
            <a:solidFill>
              <a:srgbClr val="060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7315200" y="4773168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Pós·Unifor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274320" y="477316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horas  ·  Dia 2 de aula  (13/06/2026  08h)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AWS Lambda — Arquitetura e Integrações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1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Event Sources · Execução · Step Functions · Segurança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274320" y="1005840"/>
            <a:ext cx="1645920" cy="50292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274320" y="10058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Gateway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1965960" y="11155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1"/>
          <p:cNvSpPr/>
          <p:nvPr/>
        </p:nvSpPr>
        <p:spPr>
          <a:xfrm>
            <a:off x="274320" y="1691640"/>
            <a:ext cx="1645920" cy="5029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274320" y="16916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SQS / SNS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1965960" y="18013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274320" y="2377440"/>
            <a:ext cx="1645920" cy="50292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274320" y="23774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EventBridge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1965960" y="24871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274320" y="3063240"/>
            <a:ext cx="1645920" cy="5029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1"/>
          <p:cNvSpPr/>
          <p:nvPr/>
        </p:nvSpPr>
        <p:spPr>
          <a:xfrm>
            <a:off x="274320" y="30632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S3 / DynamoDB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1965960" y="31729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2377440" y="1371600"/>
            <a:ext cx="1828800" cy="182880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2377440" y="1463040"/>
            <a:ext cx="18288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AWS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Lambda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4251960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1"/>
          <p:cNvSpPr/>
          <p:nvPr/>
        </p:nvSpPr>
        <p:spPr>
          <a:xfrm>
            <a:off x="4663440" y="1005840"/>
            <a:ext cx="1645920" cy="5029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4663440" y="10058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DynamoDB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4663440" y="1691640"/>
            <a:ext cx="1645920" cy="5029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1"/>
          <p:cNvSpPr/>
          <p:nvPr/>
        </p:nvSpPr>
        <p:spPr>
          <a:xfrm>
            <a:off x="4663440" y="16916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S3 Bucket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4663440" y="2377440"/>
            <a:ext cx="1645920" cy="50292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1"/>
          <p:cNvSpPr/>
          <p:nvPr/>
        </p:nvSpPr>
        <p:spPr>
          <a:xfrm>
            <a:off x="4663440" y="23774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SNS Topic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4663440" y="3063240"/>
            <a:ext cx="1645920" cy="502920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1"/>
          <p:cNvSpPr/>
          <p:nvPr/>
        </p:nvSpPr>
        <p:spPr>
          <a:xfrm>
            <a:off x="4663440" y="306324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CloudWatch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6492240" y="914400"/>
            <a:ext cx="2377440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6492240" y="914400"/>
            <a:ext cx="64008" cy="123444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6629400" y="96926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AWS Step Functions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6629400" y="1261872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Orquestração visual de Lambdas em workflows. Standard (longa duração) e Express (alta frequência).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6492240" y="2267712"/>
            <a:ext cx="2377440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1"/>
          <p:cNvSpPr/>
          <p:nvPr/>
        </p:nvSpPr>
        <p:spPr>
          <a:xfrm>
            <a:off x="6492240" y="2267712"/>
            <a:ext cx="64008" cy="12344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6629400" y="2322576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🔐  Segurança Lambda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6629400" y="2615184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IAM Execution Role · VPC para isolamento · Secrets Manager · Resource Policy · Lambda Authorizer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274320" y="3639312"/>
            <a:ext cx="603504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1"/>
          <p:cNvSpPr/>
          <p:nvPr/>
        </p:nvSpPr>
        <p:spPr>
          <a:xfrm>
            <a:off x="457200" y="3675888"/>
            <a:ext cx="56692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💡  FinOps Lambda: Arm64 (Graviton) reduz custo em até 20% · Power Tuning Tool otimiza memória/duração · Prefira Provisioned Concurrency só onde necessário.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D1B69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2"/>
          <p:cNvSpPr/>
          <p:nvPr/>
        </p:nvSpPr>
        <p:spPr>
          <a:xfrm>
            <a:off x="5943600" y="274320"/>
            <a:ext cx="3657600" cy="3657600"/>
          </a:xfrm>
          <a:prstGeom prst="ellipse">
            <a:avLst/>
          </a:prstGeom>
          <a:solidFill>
            <a:srgbClr val="7C3AED">
              <a:alpha val="14901"/>
            </a:srgbClr>
          </a:solidFill>
          <a:ln cap="flat" cmpd="sng" w="12700">
            <a:solidFill>
              <a:srgbClr val="7C3AED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2"/>
          <p:cNvSpPr/>
          <p:nvPr/>
        </p:nvSpPr>
        <p:spPr>
          <a:xfrm>
            <a:off x="457200" y="64008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Unidade III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2"/>
          <p:cNvSpPr/>
          <p:nvPr/>
        </p:nvSpPr>
        <p:spPr>
          <a:xfrm>
            <a:off x="457200" y="1280160"/>
            <a:ext cx="68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9DDB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B39DDB"/>
                </a:solidFill>
                <a:latin typeface="Calibri"/>
                <a:ea typeface="Calibri"/>
                <a:cs typeface="Calibri"/>
                <a:sym typeface="Calibri"/>
              </a:rPr>
              <a:t>Azure Functions e Orquestração Multi-Cloud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/>
          <p:nvPr/>
        </p:nvSpPr>
        <p:spPr>
          <a:xfrm>
            <a:off x="457200" y="1828800"/>
            <a:ext cx="365760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2"/>
          <p:cNvSpPr/>
          <p:nvPr/>
        </p:nvSpPr>
        <p:spPr>
          <a:xfrm>
            <a:off x="457200" y="1993392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Planos de hospedagem: Consumption · Premium · Dedicated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/>
          <p:nvPr/>
        </p:nvSpPr>
        <p:spPr>
          <a:xfrm>
            <a:off x="457200" y="22860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Triggers e Bindings de entrada e saída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/>
          <p:nvPr/>
        </p:nvSpPr>
        <p:spPr>
          <a:xfrm>
            <a:off x="457200" y="2578608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Durable Functions: Fan-out/Fan-in · Chaining · Monitor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/>
          <p:nvPr/>
        </p:nvSpPr>
        <p:spPr>
          <a:xfrm>
            <a:off x="457200" y="2871216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Comparativo AWS Lambda vs Azure Functions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457200" y="3163824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Estratégia Multi-Cloud e portabilidade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2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60E20"/>
          </a:solidFill>
          <a:ln cap="flat" cmpd="sng" w="12700">
            <a:solidFill>
              <a:srgbClr val="060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2"/>
          <p:cNvSpPr/>
          <p:nvPr/>
        </p:nvSpPr>
        <p:spPr>
          <a:xfrm>
            <a:off x="7315200" y="4773168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Pós·Unifor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2"/>
          <p:cNvSpPr/>
          <p:nvPr/>
        </p:nvSpPr>
        <p:spPr>
          <a:xfrm>
            <a:off x="274320" y="477316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horas  ·  Dia 3 de aula  (18/06/2026  19h)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3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3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Azure Functions — Planos, Triggers e Durable Functions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3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Consumption · Premium · Bindings · Orquestração Stateful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3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274320" y="84124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Planos de Hospedagem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274320" y="1170432"/>
            <a:ext cx="2798064" cy="10972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3"/>
          <p:cNvSpPr/>
          <p:nvPr/>
        </p:nvSpPr>
        <p:spPr>
          <a:xfrm>
            <a:off x="274320" y="1170432"/>
            <a:ext cx="2798064" cy="29260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3"/>
          <p:cNvSpPr/>
          <p:nvPr/>
        </p:nvSpPr>
        <p:spPr>
          <a:xfrm>
            <a:off x="365760" y="1179576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Consumption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365760" y="1508760"/>
            <a:ext cx="25603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Escala automática. Cobra por execução. Cold start presente.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3246120" y="1170432"/>
            <a:ext cx="2798064" cy="10972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3"/>
          <p:cNvSpPr/>
          <p:nvPr/>
        </p:nvSpPr>
        <p:spPr>
          <a:xfrm>
            <a:off x="3246120" y="1170432"/>
            <a:ext cx="2798064" cy="292608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3"/>
          <p:cNvSpPr/>
          <p:nvPr/>
        </p:nvSpPr>
        <p:spPr>
          <a:xfrm>
            <a:off x="3337560" y="1179576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Premium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3337560" y="1508760"/>
            <a:ext cx="25603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Sem cold start. VNet integration. Instances pré-aquecidas.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6217920" y="1170432"/>
            <a:ext cx="2798064" cy="109728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6217920" y="1170432"/>
            <a:ext cx="2798064" cy="292608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3"/>
          <p:cNvSpPr/>
          <p:nvPr/>
        </p:nvSpPr>
        <p:spPr>
          <a:xfrm>
            <a:off x="6309360" y="1179576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Dedicated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6309360" y="1508760"/>
            <a:ext cx="25603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App Service Plan. Custo fixo. Workloads contínuos.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274320" y="239572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Triggers &amp; Bindings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274320" y="2724912"/>
            <a:ext cx="1664208" cy="3200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3"/>
          <p:cNvSpPr/>
          <p:nvPr/>
        </p:nvSpPr>
        <p:spPr>
          <a:xfrm>
            <a:off x="274320" y="2724912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HTTP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2029968" y="2724912"/>
            <a:ext cx="1664208" cy="3200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2029968" y="2724912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Timer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3785616" y="2724912"/>
            <a:ext cx="1664208" cy="3200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3785616" y="2724912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Queue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5541264" y="2724912"/>
            <a:ext cx="1664208" cy="3200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264" y="2724912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Blob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7296912" y="2724912"/>
            <a:ext cx="1664208" cy="3200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7296912" y="2724912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Event Hub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274320" y="3108960"/>
            <a:ext cx="1664208" cy="32004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274320" y="3108960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Cosmos DB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2029968" y="3108960"/>
            <a:ext cx="1664208" cy="32004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2029968" y="3108960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Service Bus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3785616" y="3108960"/>
            <a:ext cx="1664208" cy="32004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3785616" y="3108960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SignalR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5541264" y="3108960"/>
            <a:ext cx="1664208" cy="32004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5541264" y="3108960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Table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/>
          <p:nvPr/>
        </p:nvSpPr>
        <p:spPr>
          <a:xfrm>
            <a:off x="7296912" y="3108960"/>
            <a:ext cx="1664208" cy="32004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7296912" y="3108960"/>
            <a:ext cx="1664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Event Grid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274320" y="354787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Durable Functions — Orquestração Stateful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274320" y="3858768"/>
            <a:ext cx="2103120" cy="713232"/>
          </a:xfrm>
          <a:prstGeom prst="rect">
            <a:avLst/>
          </a:prstGeom>
          <a:solidFill>
            <a:srgbClr val="F0EBF8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274320" y="3858768"/>
            <a:ext cx="64008" cy="713232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393192" y="3895344"/>
            <a:ext cx="1920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Function Chaining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393192" y="4151376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Sequência de funções em cadeia (output → input)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2487168" y="3858768"/>
            <a:ext cx="2103120" cy="713232"/>
          </a:xfrm>
          <a:prstGeom prst="rect">
            <a:avLst/>
          </a:prstGeom>
          <a:solidFill>
            <a:srgbClr val="F0EBF8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2487168" y="3858768"/>
            <a:ext cx="64008" cy="713232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3"/>
          <p:cNvSpPr/>
          <p:nvPr/>
        </p:nvSpPr>
        <p:spPr>
          <a:xfrm>
            <a:off x="2606040" y="3895344"/>
            <a:ext cx="1920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Fan-out / Fan-in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3"/>
          <p:cNvSpPr/>
          <p:nvPr/>
        </p:nvSpPr>
        <p:spPr>
          <a:xfrm>
            <a:off x="2606040" y="4151376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Paraleliza tarefas e agrega resultados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3"/>
          <p:cNvSpPr/>
          <p:nvPr/>
        </p:nvSpPr>
        <p:spPr>
          <a:xfrm>
            <a:off x="4700016" y="3858768"/>
            <a:ext cx="2103120" cy="713232"/>
          </a:xfrm>
          <a:prstGeom prst="rect">
            <a:avLst/>
          </a:prstGeom>
          <a:solidFill>
            <a:srgbClr val="F0EBF8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4700016" y="3858768"/>
            <a:ext cx="64008" cy="713232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3"/>
          <p:cNvSpPr/>
          <p:nvPr/>
        </p:nvSpPr>
        <p:spPr>
          <a:xfrm>
            <a:off x="4818888" y="3895344"/>
            <a:ext cx="1920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Async HTTP API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3"/>
          <p:cNvSpPr/>
          <p:nvPr/>
        </p:nvSpPr>
        <p:spPr>
          <a:xfrm>
            <a:off x="4818888" y="4151376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Expõe status de longa duração via polling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3"/>
          <p:cNvSpPr/>
          <p:nvPr/>
        </p:nvSpPr>
        <p:spPr>
          <a:xfrm>
            <a:off x="6912864" y="3858768"/>
            <a:ext cx="2103120" cy="713232"/>
          </a:xfrm>
          <a:prstGeom prst="rect">
            <a:avLst/>
          </a:prstGeom>
          <a:solidFill>
            <a:srgbClr val="F0EBF8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"/>
          <p:cNvSpPr/>
          <p:nvPr/>
        </p:nvSpPr>
        <p:spPr>
          <a:xfrm>
            <a:off x="6912864" y="3858768"/>
            <a:ext cx="64008" cy="713232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3"/>
          <p:cNvSpPr/>
          <p:nvPr/>
        </p:nvSpPr>
        <p:spPr>
          <a:xfrm>
            <a:off x="7031736" y="3895344"/>
            <a:ext cx="1920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Monitor Pattern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3"/>
          <p:cNvSpPr/>
          <p:nvPr/>
        </p:nvSpPr>
        <p:spPr>
          <a:xfrm>
            <a:off x="7031736" y="4151376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Loop flexível com sleep/retry (ex: health check)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D38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4"/>
          <p:cNvSpPr/>
          <p:nvPr/>
        </p:nvSpPr>
        <p:spPr>
          <a:xfrm>
            <a:off x="5943600" y="274320"/>
            <a:ext cx="3657600" cy="3657600"/>
          </a:xfrm>
          <a:prstGeom prst="ellipse">
            <a:avLst/>
          </a:prstGeom>
          <a:solidFill>
            <a:srgbClr val="0D9488">
              <a:alpha val="14901"/>
            </a:srgbClr>
          </a:solidFill>
          <a:ln cap="flat" cmpd="sng" w="12700">
            <a:solidFill>
              <a:srgbClr val="0D9488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4"/>
          <p:cNvSpPr/>
          <p:nvPr/>
        </p:nvSpPr>
        <p:spPr>
          <a:xfrm>
            <a:off x="457200" y="64008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Unidade IV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Kubernetes Nativo com Knative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457200" y="1828800"/>
            <a:ext cx="365760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4"/>
          <p:cNvSpPr/>
          <p:nvPr/>
        </p:nvSpPr>
        <p:spPr>
          <a:xfrm>
            <a:off x="457200" y="1993392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Por que Serverless no Kubernetes?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/>
          <p:nvPr/>
        </p:nvSpPr>
        <p:spPr>
          <a:xfrm>
            <a:off x="457200" y="22860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Knative Serving: auto-scale to zero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457200" y="2578608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Knative Eventing: CloudEvents e Brokers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457200" y="2871216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Observabilidade: Prometheus · Grafana · Jaeger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4"/>
          <p:cNvSpPr/>
          <p:nvPr/>
        </p:nvSpPr>
        <p:spPr>
          <a:xfrm>
            <a:off x="457200" y="3163824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Comparativo: Knative vs Lambda vs Azure Functions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60E20"/>
          </a:solidFill>
          <a:ln cap="flat" cmpd="sng" w="12700">
            <a:solidFill>
              <a:srgbClr val="060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4"/>
          <p:cNvSpPr/>
          <p:nvPr/>
        </p:nvSpPr>
        <p:spPr>
          <a:xfrm>
            <a:off x="7315200" y="4773168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Pós·Unifor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4"/>
          <p:cNvSpPr/>
          <p:nvPr/>
        </p:nvSpPr>
        <p:spPr>
          <a:xfrm>
            <a:off x="274320" y="477316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horas  ·  Dia 4 de aula  (19/06/2026  19h)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15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5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Knative — Serverless Nativo no Kubernetes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5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Serving · Eventing · Auto-scale to Zero · CloudEvents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5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5"/>
          <p:cNvSpPr/>
          <p:nvPr/>
        </p:nvSpPr>
        <p:spPr>
          <a:xfrm>
            <a:off x="274320" y="822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Arquitetura Knative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274320" y="1170432"/>
            <a:ext cx="8595360" cy="256032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5"/>
          <p:cNvSpPr/>
          <p:nvPr/>
        </p:nvSpPr>
        <p:spPr>
          <a:xfrm>
            <a:off x="411480" y="1207008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Kubernetes Cluster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/>
          <p:nvPr/>
        </p:nvSpPr>
        <p:spPr>
          <a:xfrm>
            <a:off x="457200" y="1481328"/>
            <a:ext cx="2743200" cy="12344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5"/>
          <p:cNvSpPr/>
          <p:nvPr/>
        </p:nvSpPr>
        <p:spPr>
          <a:xfrm>
            <a:off x="548640" y="151790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Knative Serving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/>
          <p:nvPr/>
        </p:nvSpPr>
        <p:spPr>
          <a:xfrm>
            <a:off x="548640" y="1810512"/>
            <a:ext cx="2560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Revision-based deploy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Auto-scale to zero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Traffic splitting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Custom domains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3474720" y="1481328"/>
            <a:ext cx="2743200" cy="123444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5"/>
          <p:cNvSpPr/>
          <p:nvPr/>
        </p:nvSpPr>
        <p:spPr>
          <a:xfrm>
            <a:off x="3566160" y="151790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Knative Eventing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/>
          <p:nvPr/>
        </p:nvSpPr>
        <p:spPr>
          <a:xfrm>
            <a:off x="3566160" y="1810512"/>
            <a:ext cx="2560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CloudEvents standard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Brokers &amp; Triggers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Channels &amp; Subscriptions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Sources (GitHub, Kafka…)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5"/>
          <p:cNvSpPr/>
          <p:nvPr/>
        </p:nvSpPr>
        <p:spPr>
          <a:xfrm>
            <a:off x="6492240" y="1481328"/>
            <a:ext cx="2194560" cy="123444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5"/>
          <p:cNvSpPr/>
          <p:nvPr/>
        </p:nvSpPr>
        <p:spPr>
          <a:xfrm>
            <a:off x="6583680" y="151790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Observabilidade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6583680" y="1810512"/>
            <a:ext cx="2011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• Prometheus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• Grafana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• Jaeger (traces)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• Structured logs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274320" y="384048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Quando usar cada plataforma?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274320" y="4169664"/>
            <a:ext cx="2798064" cy="621792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5"/>
          <p:cNvSpPr/>
          <p:nvPr/>
        </p:nvSpPr>
        <p:spPr>
          <a:xfrm>
            <a:off x="274320" y="4169664"/>
            <a:ext cx="64008" cy="621792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5"/>
          <p:cNvSpPr/>
          <p:nvPr/>
        </p:nvSpPr>
        <p:spPr>
          <a:xfrm>
            <a:off x="393192" y="4197096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AWS Lambda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393192" y="4434840"/>
            <a:ext cx="2560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AWS nativo. Integração profunda com serviços AWS. Melhor para startups e workloads AWS-first.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3246120" y="4169664"/>
            <a:ext cx="2798064" cy="621792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5"/>
          <p:cNvSpPr/>
          <p:nvPr/>
        </p:nvSpPr>
        <p:spPr>
          <a:xfrm>
            <a:off x="3246120" y="4169664"/>
            <a:ext cx="64008" cy="621792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5"/>
          <p:cNvSpPr/>
          <p:nvPr/>
        </p:nvSpPr>
        <p:spPr>
          <a:xfrm>
            <a:off x="3364992" y="4197096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Azure Functions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5"/>
          <p:cNvSpPr/>
          <p:nvPr/>
        </p:nvSpPr>
        <p:spPr>
          <a:xfrm>
            <a:off x="3364992" y="4434840"/>
            <a:ext cx="2560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Ecossistema Microsoft. .NET, Azure DevOps, AKS. Ideal para empresas Microsoft-first.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6217920" y="4169664"/>
            <a:ext cx="2798064" cy="621792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5"/>
          <p:cNvSpPr/>
          <p:nvPr/>
        </p:nvSpPr>
        <p:spPr>
          <a:xfrm>
            <a:off x="6217920" y="4169664"/>
            <a:ext cx="64008" cy="621792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6336792" y="4197096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Knative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5"/>
          <p:cNvSpPr/>
          <p:nvPr/>
        </p:nvSpPr>
        <p:spPr>
          <a:xfrm>
            <a:off x="6336792" y="4434840"/>
            <a:ext cx="2560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Multi-cloud ou on-prem. Kubernetes existente. Evita vendor lock-in. Infraestrutura corporativa.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2B1F"/>
        </a:solidFill>
      </p:bgPr>
    </p:bg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"/>
          <p:cNvSpPr/>
          <p:nvPr/>
        </p:nvSpPr>
        <p:spPr>
          <a:xfrm>
            <a:off x="5943600" y="274320"/>
            <a:ext cx="3657600" cy="3657600"/>
          </a:xfrm>
          <a:prstGeom prst="ellipse">
            <a:avLst/>
          </a:prstGeom>
          <a:solidFill>
            <a:srgbClr val="10B981">
              <a:alpha val="12156"/>
            </a:srgbClr>
          </a:solidFill>
          <a:ln cap="flat" cmpd="sng" w="12700">
            <a:solidFill>
              <a:srgbClr val="10B981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6"/>
          <p:cNvSpPr/>
          <p:nvPr/>
        </p:nvSpPr>
        <p:spPr>
          <a:xfrm>
            <a:off x="457200" y="64008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Unidade V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457200" y="1280160"/>
            <a:ext cx="68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Projeto Final Aplicado — Defesa Técnica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457200" y="1828800"/>
            <a:ext cx="365760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6"/>
          <p:cNvSpPr/>
          <p:nvPr/>
        </p:nvSpPr>
        <p:spPr>
          <a:xfrm>
            <a:off x="457200" y="1993392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Recebe brief de negócio (startup fictícia)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457200" y="22860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Projeta arquitetura serverless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457200" y="2578608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Implementa solução funcional e documentada PRD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457200" y="2871216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Análise de custo com estimativa real </a:t>
            </a:r>
            <a:r>
              <a:rPr lang="en-US" sz="10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de custo total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457200" y="3163824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▸  Apresenta e defende para o Prof. (Arquiteto Sênior)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60E20"/>
          </a:solidFill>
          <a:ln cap="flat" cmpd="sng" w="12700">
            <a:solidFill>
              <a:srgbClr val="060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7315200" y="4773168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Pós·Unifor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274320" y="477316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horas  ·  Dia 5 de aula  (20/06/2026  08h)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17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7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Segurança em Arquiteturas Serverless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7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7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OWASP Serverless Top 10 · IAM · Secrets · Zero Trust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7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7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7"/>
          <p:cNvSpPr/>
          <p:nvPr/>
        </p:nvSpPr>
        <p:spPr>
          <a:xfrm>
            <a:off x="274320" y="822960"/>
            <a:ext cx="2798064" cy="91440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7"/>
          <p:cNvSpPr/>
          <p:nvPr/>
        </p:nvSpPr>
        <p:spPr>
          <a:xfrm>
            <a:off x="274320" y="822960"/>
            <a:ext cx="64008" cy="914400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7"/>
          <p:cNvSpPr/>
          <p:nvPr/>
        </p:nvSpPr>
        <p:spPr>
          <a:xfrm>
            <a:off x="338328" y="822960"/>
            <a:ext cx="640080" cy="292608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17"/>
          <p:cNvSpPr/>
          <p:nvPr/>
        </p:nvSpPr>
        <p:spPr>
          <a:xfrm>
            <a:off x="338328" y="8229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7"/>
          <p:cNvSpPr/>
          <p:nvPr/>
        </p:nvSpPr>
        <p:spPr>
          <a:xfrm>
            <a:off x="393192" y="1152144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Injeção em Funções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7"/>
          <p:cNvSpPr/>
          <p:nvPr/>
        </p:nvSpPr>
        <p:spPr>
          <a:xfrm>
            <a:off x="393192" y="142646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Validar todas as entradas. Nunca executar input como código.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3246120" y="822960"/>
            <a:ext cx="2798064" cy="91440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7"/>
          <p:cNvSpPr/>
          <p:nvPr/>
        </p:nvSpPr>
        <p:spPr>
          <a:xfrm>
            <a:off x="3246120" y="822960"/>
            <a:ext cx="64008" cy="914400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7"/>
          <p:cNvSpPr/>
          <p:nvPr/>
        </p:nvSpPr>
        <p:spPr>
          <a:xfrm>
            <a:off x="3310128" y="822960"/>
            <a:ext cx="640080" cy="292608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7"/>
          <p:cNvSpPr/>
          <p:nvPr/>
        </p:nvSpPr>
        <p:spPr>
          <a:xfrm>
            <a:off x="3310128" y="8229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3364992" y="1152144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Broken Auth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3364992" y="142646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Usar Lambda Authorizer ou API Gateway Auth. JWT com exp curta.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6217920" y="822960"/>
            <a:ext cx="2798064" cy="91440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7"/>
          <p:cNvSpPr/>
          <p:nvPr/>
        </p:nvSpPr>
        <p:spPr>
          <a:xfrm>
            <a:off x="6217920" y="822960"/>
            <a:ext cx="64008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7"/>
          <p:cNvSpPr/>
          <p:nvPr/>
        </p:nvSpPr>
        <p:spPr>
          <a:xfrm>
            <a:off x="6281928" y="822960"/>
            <a:ext cx="640080" cy="292608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17"/>
          <p:cNvSpPr/>
          <p:nvPr/>
        </p:nvSpPr>
        <p:spPr>
          <a:xfrm>
            <a:off x="6281928" y="8229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6336792" y="1152144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Data Exposure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7"/>
          <p:cNvSpPr/>
          <p:nvPr/>
        </p:nvSpPr>
        <p:spPr>
          <a:xfrm>
            <a:off x="6336792" y="142646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Nunca logar secrets. Usar Secrets Manager / Key Vault.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274320" y="1828800"/>
            <a:ext cx="2798064" cy="91440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7"/>
          <p:cNvSpPr/>
          <p:nvPr/>
        </p:nvSpPr>
        <p:spPr>
          <a:xfrm>
            <a:off x="274320" y="1828800"/>
            <a:ext cx="64008" cy="91440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17"/>
          <p:cNvSpPr/>
          <p:nvPr/>
        </p:nvSpPr>
        <p:spPr>
          <a:xfrm>
            <a:off x="338328" y="1828800"/>
            <a:ext cx="640080" cy="29260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7"/>
          <p:cNvSpPr/>
          <p:nvPr/>
        </p:nvSpPr>
        <p:spPr>
          <a:xfrm>
            <a:off x="338328" y="182880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393192" y="2157984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Over-permissive IAM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393192" y="243230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Menor privilégio: cada função com role específica. SCPs.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3246120" y="1828800"/>
            <a:ext cx="2798064" cy="91440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7"/>
          <p:cNvSpPr/>
          <p:nvPr/>
        </p:nvSpPr>
        <p:spPr>
          <a:xfrm>
            <a:off x="3246120" y="1828800"/>
            <a:ext cx="64008" cy="9144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7"/>
          <p:cNvSpPr/>
          <p:nvPr/>
        </p:nvSpPr>
        <p:spPr>
          <a:xfrm>
            <a:off x="3310128" y="1828800"/>
            <a:ext cx="640080" cy="29260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17"/>
          <p:cNvSpPr/>
          <p:nvPr/>
        </p:nvSpPr>
        <p:spPr>
          <a:xfrm>
            <a:off x="3310128" y="182880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3364992" y="2157984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Insecure Deps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3364992" y="243230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Escanear Layers e packages. Usar ECR scanning ou Dependabot.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6217920" y="1828800"/>
            <a:ext cx="2798064" cy="914400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508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7"/>
          <p:cNvSpPr/>
          <p:nvPr/>
        </p:nvSpPr>
        <p:spPr>
          <a:xfrm>
            <a:off x="6217920" y="1828800"/>
            <a:ext cx="64008" cy="914400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7"/>
          <p:cNvSpPr/>
          <p:nvPr/>
        </p:nvSpPr>
        <p:spPr>
          <a:xfrm>
            <a:off x="6281928" y="1828800"/>
            <a:ext cx="640080" cy="292608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7"/>
          <p:cNvSpPr/>
          <p:nvPr/>
        </p:nvSpPr>
        <p:spPr>
          <a:xfrm>
            <a:off x="6281928" y="182880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6336792" y="2157984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DoS / Cost Explosion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6336792" y="243230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Throttling no API GW. Concurrency limits. Budget Alerts.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/>
          <p:nvPr/>
        </p:nvSpPr>
        <p:spPr>
          <a:xfrm>
            <a:off x="274320" y="2834640"/>
            <a:ext cx="8595360" cy="50292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7"/>
          <p:cNvSpPr/>
          <p:nvPr/>
        </p:nvSpPr>
        <p:spPr>
          <a:xfrm>
            <a:off x="457200" y="2871216"/>
            <a:ext cx="8229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🛡  Princípio Zero Trust: Nunca confiar, sempre verificar. Toda função deve autenticar e autorizar cada chamada individualmente.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274320" y="3456432"/>
            <a:ext cx="2057400" cy="777240"/>
          </a:xfrm>
          <a:prstGeom prst="rect">
            <a:avLst/>
          </a:prstGeom>
          <a:solidFill>
            <a:srgbClr val="E8F5E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7"/>
          <p:cNvSpPr/>
          <p:nvPr/>
        </p:nvSpPr>
        <p:spPr>
          <a:xfrm>
            <a:off x="365760" y="3511296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✅  Least privilege IAM por função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7"/>
          <p:cNvSpPr/>
          <p:nvPr/>
        </p:nvSpPr>
        <p:spPr>
          <a:xfrm>
            <a:off x="2441448" y="3456432"/>
            <a:ext cx="2057400" cy="777240"/>
          </a:xfrm>
          <a:prstGeom prst="rect">
            <a:avLst/>
          </a:prstGeom>
          <a:solidFill>
            <a:srgbClr val="E8F5E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17"/>
          <p:cNvSpPr/>
          <p:nvPr/>
        </p:nvSpPr>
        <p:spPr>
          <a:xfrm>
            <a:off x="2532888" y="3511296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✅  Secrets Manager (nunca env vars em texto)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7"/>
          <p:cNvSpPr/>
          <p:nvPr/>
        </p:nvSpPr>
        <p:spPr>
          <a:xfrm>
            <a:off x="4608576" y="3456432"/>
            <a:ext cx="2057400" cy="777240"/>
          </a:xfrm>
          <a:prstGeom prst="rect">
            <a:avLst/>
          </a:prstGeom>
          <a:solidFill>
            <a:srgbClr val="E8F5E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7"/>
          <p:cNvSpPr/>
          <p:nvPr/>
        </p:nvSpPr>
        <p:spPr>
          <a:xfrm>
            <a:off x="4700016" y="3511296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✅  VPC Endpoints para serviços internos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6775704" y="3456432"/>
            <a:ext cx="2057400" cy="777240"/>
          </a:xfrm>
          <a:prstGeom prst="rect">
            <a:avLst/>
          </a:prstGeom>
          <a:solidFill>
            <a:srgbClr val="E8F5E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17"/>
          <p:cNvSpPr/>
          <p:nvPr/>
        </p:nvSpPr>
        <p:spPr>
          <a:xfrm>
            <a:off x="6867144" y="3511296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✅  WAF + API Gateway throttling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8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18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FinOps em Ambientes Serverless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8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8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Otimização de Custo · Cold Start · Right-sizing · Alertas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8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8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8"/>
          <p:cNvSpPr/>
          <p:nvPr/>
        </p:nvSpPr>
        <p:spPr>
          <a:xfrm>
            <a:off x="274320" y="822960"/>
            <a:ext cx="2798064" cy="3840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18"/>
          <p:cNvSpPr/>
          <p:nvPr/>
        </p:nvSpPr>
        <p:spPr>
          <a:xfrm>
            <a:off x="274320" y="822960"/>
            <a:ext cx="27980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 Inform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8"/>
          <p:cNvSpPr/>
          <p:nvPr/>
        </p:nvSpPr>
        <p:spPr>
          <a:xfrm>
            <a:off x="274320" y="1234440"/>
            <a:ext cx="2798064" cy="18288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8"/>
          <p:cNvSpPr/>
          <p:nvPr/>
        </p:nvSpPr>
        <p:spPr>
          <a:xfrm>
            <a:off x="411480" y="1325880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Cost Explorer (AWS)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8"/>
          <p:cNvSpPr/>
          <p:nvPr/>
        </p:nvSpPr>
        <p:spPr>
          <a:xfrm>
            <a:off x="411480" y="171907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Azure Cost Management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8"/>
          <p:cNvSpPr/>
          <p:nvPr/>
        </p:nvSpPr>
        <p:spPr>
          <a:xfrm>
            <a:off x="411480" y="211226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CloudWatch Metrics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8"/>
          <p:cNvSpPr/>
          <p:nvPr/>
        </p:nvSpPr>
        <p:spPr>
          <a:xfrm>
            <a:off x="411480" y="2505456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Billing Alerts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8"/>
          <p:cNvSpPr/>
          <p:nvPr/>
        </p:nvSpPr>
        <p:spPr>
          <a:xfrm>
            <a:off x="3246120" y="822960"/>
            <a:ext cx="2798064" cy="384048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8"/>
          <p:cNvSpPr/>
          <p:nvPr/>
        </p:nvSpPr>
        <p:spPr>
          <a:xfrm>
            <a:off x="3246120" y="822960"/>
            <a:ext cx="27980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 Optimize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8"/>
          <p:cNvSpPr/>
          <p:nvPr/>
        </p:nvSpPr>
        <p:spPr>
          <a:xfrm>
            <a:off x="3246120" y="1234440"/>
            <a:ext cx="2798064" cy="18288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18"/>
          <p:cNvSpPr/>
          <p:nvPr/>
        </p:nvSpPr>
        <p:spPr>
          <a:xfrm>
            <a:off x="3383280" y="1325880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Arm64 / Graviton (−20%)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8"/>
          <p:cNvSpPr/>
          <p:nvPr/>
        </p:nvSpPr>
        <p:spPr>
          <a:xfrm>
            <a:off x="3383280" y="171907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Power Tuning Lambda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8"/>
          <p:cNvSpPr/>
          <p:nvPr/>
        </p:nvSpPr>
        <p:spPr>
          <a:xfrm>
            <a:off x="3383280" y="211226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Provisioned Concurrency seletivo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8"/>
          <p:cNvSpPr/>
          <p:nvPr/>
        </p:nvSpPr>
        <p:spPr>
          <a:xfrm>
            <a:off x="3383280" y="2505456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Timeout agressivo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8"/>
          <p:cNvSpPr/>
          <p:nvPr/>
        </p:nvSpPr>
        <p:spPr>
          <a:xfrm>
            <a:off x="6217920" y="822960"/>
            <a:ext cx="2798064" cy="384048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8"/>
          <p:cNvSpPr/>
          <p:nvPr/>
        </p:nvSpPr>
        <p:spPr>
          <a:xfrm>
            <a:off x="6217920" y="822960"/>
            <a:ext cx="27980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 Operate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8"/>
          <p:cNvSpPr/>
          <p:nvPr/>
        </p:nvSpPr>
        <p:spPr>
          <a:xfrm>
            <a:off x="6217920" y="1234440"/>
            <a:ext cx="2798064" cy="18288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8"/>
          <p:cNvSpPr/>
          <p:nvPr/>
        </p:nvSpPr>
        <p:spPr>
          <a:xfrm>
            <a:off x="6355080" y="1325880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Budget Alerts automáticos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/>
          <p:nvPr/>
        </p:nvSpPr>
        <p:spPr>
          <a:xfrm>
            <a:off x="6355080" y="171907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Concurrency Limits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8"/>
          <p:cNvSpPr/>
          <p:nvPr/>
        </p:nvSpPr>
        <p:spPr>
          <a:xfrm>
            <a:off x="6355080" y="211226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Dead Letter Queue (DLQ)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8"/>
          <p:cNvSpPr/>
          <p:nvPr/>
        </p:nvSpPr>
        <p:spPr>
          <a:xfrm>
            <a:off x="6355080" y="2505456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▸  Tagging por projeto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8"/>
          <p:cNvSpPr/>
          <p:nvPr/>
        </p:nvSpPr>
        <p:spPr>
          <a:xfrm>
            <a:off x="274320" y="312724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Impacto do Cold Start por Runtime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8"/>
          <p:cNvSpPr/>
          <p:nvPr/>
        </p:nvSpPr>
        <p:spPr>
          <a:xfrm>
            <a:off x="274320" y="3456432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Python 3.12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8"/>
          <p:cNvSpPr/>
          <p:nvPr/>
        </p:nvSpPr>
        <p:spPr>
          <a:xfrm>
            <a:off x="1691640" y="3483864"/>
            <a:ext cx="1463040" cy="19202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18"/>
          <p:cNvSpPr/>
          <p:nvPr/>
        </p:nvSpPr>
        <p:spPr>
          <a:xfrm>
            <a:off x="3246120" y="34564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200ms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8"/>
          <p:cNvSpPr/>
          <p:nvPr/>
        </p:nvSpPr>
        <p:spPr>
          <a:xfrm>
            <a:off x="274320" y="3721608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Node 20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8"/>
          <p:cNvSpPr/>
          <p:nvPr/>
        </p:nvSpPr>
        <p:spPr>
          <a:xfrm>
            <a:off x="1691640" y="3749040"/>
            <a:ext cx="1828800" cy="192024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18"/>
          <p:cNvSpPr/>
          <p:nvPr/>
        </p:nvSpPr>
        <p:spPr>
          <a:xfrm>
            <a:off x="3611880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250ms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8"/>
          <p:cNvSpPr/>
          <p:nvPr/>
        </p:nvSpPr>
        <p:spPr>
          <a:xfrm>
            <a:off x="274320" y="3986784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Java 21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1691640" y="4014216"/>
            <a:ext cx="6583680" cy="19202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18"/>
          <p:cNvSpPr/>
          <p:nvPr/>
        </p:nvSpPr>
        <p:spPr>
          <a:xfrm>
            <a:off x="8366760" y="398678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900ms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8"/>
          <p:cNvSpPr/>
          <p:nvPr/>
        </p:nvSpPr>
        <p:spPr>
          <a:xfrm>
            <a:off x="274320" y="425196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.NET 8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8"/>
          <p:cNvSpPr/>
          <p:nvPr/>
        </p:nvSpPr>
        <p:spPr>
          <a:xfrm>
            <a:off x="1691640" y="4279392"/>
            <a:ext cx="4389120" cy="192024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18"/>
          <p:cNvSpPr/>
          <p:nvPr/>
        </p:nvSpPr>
        <p:spPr>
          <a:xfrm>
            <a:off x="6172200" y="425196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600ms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8"/>
          <p:cNvSpPr/>
          <p:nvPr/>
        </p:nvSpPr>
        <p:spPr>
          <a:xfrm>
            <a:off x="274320" y="4517136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Go 1.22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8"/>
          <p:cNvSpPr/>
          <p:nvPr/>
        </p:nvSpPr>
        <p:spPr>
          <a:xfrm>
            <a:off x="1691640" y="4544568"/>
            <a:ext cx="1097280" cy="19202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8"/>
          <p:cNvSpPr/>
          <p:nvPr/>
        </p:nvSpPr>
        <p:spPr>
          <a:xfrm>
            <a:off x="2880360" y="45171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150ms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9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p19"/>
          <p:cNvSpPr/>
          <p:nvPr/>
        </p:nvSpPr>
        <p:spPr>
          <a:xfrm>
            <a:off x="274320" y="27432"/>
            <a:ext cx="7772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Critérios de Avaliação — Projeto Final Serverless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9"/>
          <p:cNvSpPr/>
          <p:nvPr/>
        </p:nvSpPr>
        <p:spPr>
          <a:xfrm>
            <a:off x="0" y="658368"/>
            <a:ext cx="9144000" cy="274320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19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Arquitetura · Implementação · Segurança · FinOps · Defesa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81A35"/>
          </a:solidFill>
          <a:ln cap="flat" cmpd="sng" w="12700">
            <a:solidFill>
              <a:srgbClr val="081A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19"/>
          <p:cNvSpPr/>
          <p:nvPr/>
        </p:nvSpPr>
        <p:spPr>
          <a:xfrm>
            <a:off x="274320" y="48280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Computação Sem Servidores  ·  Pós-Graduação UNIFOR  ·  2026.1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5943600" y="48280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Prof. Bruno Cavalcanti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9"/>
          <p:cNvSpPr/>
          <p:nvPr/>
        </p:nvSpPr>
        <p:spPr>
          <a:xfrm>
            <a:off x="274320" y="822960"/>
            <a:ext cx="1463040" cy="2286000"/>
          </a:xfrm>
          <a:prstGeom prst="rect">
            <a:avLst/>
          </a:prstGeom>
          <a:solidFill>
            <a:srgbClr val="0F2B52"/>
          </a:solidFill>
          <a:ln cap="flat" cmpd="sng" w="12700">
            <a:solidFill>
              <a:srgbClr val="0F2B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19"/>
          <p:cNvSpPr/>
          <p:nvPr/>
        </p:nvSpPr>
        <p:spPr>
          <a:xfrm>
            <a:off x="274320" y="100584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70%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274320" y="160020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9"/>
          <p:cNvSpPr/>
          <p:nvPr/>
        </p:nvSpPr>
        <p:spPr>
          <a:xfrm>
            <a:off x="274320" y="210312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Projeto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274320" y="27432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Dia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9"/>
          <p:cNvSpPr/>
          <p:nvPr/>
        </p:nvSpPr>
        <p:spPr>
          <a:xfrm>
            <a:off x="1920240" y="804672"/>
            <a:ext cx="6949440" cy="658368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9"/>
          <p:cNvSpPr/>
          <p:nvPr/>
        </p:nvSpPr>
        <p:spPr>
          <a:xfrm>
            <a:off x="1993392" y="877824"/>
            <a:ext cx="411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🏗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/>
          <p:nvPr/>
        </p:nvSpPr>
        <p:spPr>
          <a:xfrm>
            <a:off x="2450592" y="859536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Arquitetura e Decisão Técnica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2450592" y="111556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Escolha justificada de plataforma(s), padrões de design e diagrama completo.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8302752" y="804672"/>
            <a:ext cx="566928" cy="6583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19"/>
          <p:cNvSpPr/>
          <p:nvPr/>
        </p:nvSpPr>
        <p:spPr>
          <a:xfrm>
            <a:off x="8302752" y="804672"/>
            <a:ext cx="56692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pts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1920240" y="1536192"/>
            <a:ext cx="6949440" cy="658368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9"/>
          <p:cNvSpPr/>
          <p:nvPr/>
        </p:nvSpPr>
        <p:spPr>
          <a:xfrm>
            <a:off x="1993392" y="1609344"/>
            <a:ext cx="411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19"/>
          <p:cNvSpPr/>
          <p:nvPr/>
        </p:nvSpPr>
        <p:spPr>
          <a:xfrm>
            <a:off x="2450592" y="1591056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Implementação Funcional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9"/>
          <p:cNvSpPr/>
          <p:nvPr/>
        </p:nvSpPr>
        <p:spPr>
          <a:xfrm>
            <a:off x="2450592" y="184708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Código funcionando. Deploy realizado. Funções respondendo conforme esperado.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9"/>
          <p:cNvSpPr/>
          <p:nvPr/>
        </p:nvSpPr>
        <p:spPr>
          <a:xfrm>
            <a:off x="8302752" y="1536192"/>
            <a:ext cx="566928" cy="6583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5" name="Google Shape;635;p19"/>
          <p:cNvSpPr/>
          <p:nvPr/>
        </p:nvSpPr>
        <p:spPr>
          <a:xfrm>
            <a:off x="8302752" y="1536192"/>
            <a:ext cx="56692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pts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9"/>
          <p:cNvSpPr/>
          <p:nvPr/>
        </p:nvSpPr>
        <p:spPr>
          <a:xfrm>
            <a:off x="1920240" y="2267712"/>
            <a:ext cx="6949440" cy="658368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19"/>
          <p:cNvSpPr/>
          <p:nvPr/>
        </p:nvSpPr>
        <p:spPr>
          <a:xfrm>
            <a:off x="1993392" y="2340864"/>
            <a:ext cx="411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9"/>
          <p:cNvSpPr/>
          <p:nvPr/>
        </p:nvSpPr>
        <p:spPr>
          <a:xfrm>
            <a:off x="2450592" y="2322576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Segurança (IAM + OWASP)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9"/>
          <p:cNvSpPr/>
          <p:nvPr/>
        </p:nvSpPr>
        <p:spPr>
          <a:xfrm>
            <a:off x="2450592" y="257860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IAM least privilege, segredos protegidos, sem vulnerabilidades OWASP críticas.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9"/>
          <p:cNvSpPr/>
          <p:nvPr/>
        </p:nvSpPr>
        <p:spPr>
          <a:xfrm>
            <a:off x="8302752" y="2267712"/>
            <a:ext cx="566928" cy="6583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19"/>
          <p:cNvSpPr/>
          <p:nvPr/>
        </p:nvSpPr>
        <p:spPr>
          <a:xfrm>
            <a:off x="8302752" y="2267712"/>
            <a:ext cx="56692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 pts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9"/>
          <p:cNvSpPr/>
          <p:nvPr/>
        </p:nvSpPr>
        <p:spPr>
          <a:xfrm>
            <a:off x="1920240" y="2999232"/>
            <a:ext cx="6949440" cy="658368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19"/>
          <p:cNvSpPr/>
          <p:nvPr/>
        </p:nvSpPr>
        <p:spPr>
          <a:xfrm>
            <a:off x="1993392" y="3072384"/>
            <a:ext cx="411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💰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9"/>
          <p:cNvSpPr/>
          <p:nvPr/>
        </p:nvSpPr>
        <p:spPr>
          <a:xfrm>
            <a:off x="2450592" y="3054096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FinOps e Estimativa de Custo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9"/>
          <p:cNvSpPr/>
          <p:nvPr/>
        </p:nvSpPr>
        <p:spPr>
          <a:xfrm>
            <a:off x="2450592" y="331012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Estimativa realista de TCO com AWS Pricing / Azure Calculator + otimizações.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9"/>
          <p:cNvSpPr/>
          <p:nvPr/>
        </p:nvSpPr>
        <p:spPr>
          <a:xfrm>
            <a:off x="8302752" y="2999232"/>
            <a:ext cx="566928" cy="6583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19"/>
          <p:cNvSpPr/>
          <p:nvPr/>
        </p:nvSpPr>
        <p:spPr>
          <a:xfrm>
            <a:off x="8302752" y="2999232"/>
            <a:ext cx="56692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pts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9"/>
          <p:cNvSpPr/>
          <p:nvPr/>
        </p:nvSpPr>
        <p:spPr>
          <a:xfrm>
            <a:off x="1920240" y="3730752"/>
            <a:ext cx="6949440" cy="658368"/>
          </a:xfrm>
          <a:prstGeom prst="rect">
            <a:avLst/>
          </a:prstGeom>
          <a:solidFill>
            <a:srgbClr val="F4F7FB"/>
          </a:solidFill>
          <a:ln>
            <a:noFill/>
          </a:ln>
          <a:effectLst>
            <a:outerShdw blurRad="381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19"/>
          <p:cNvSpPr/>
          <p:nvPr/>
        </p:nvSpPr>
        <p:spPr>
          <a:xfrm>
            <a:off x="1993392" y="3803904"/>
            <a:ext cx="411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🎤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19"/>
          <p:cNvSpPr/>
          <p:nvPr/>
        </p:nvSpPr>
        <p:spPr>
          <a:xfrm>
            <a:off x="2450592" y="3785616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Defesa Técnica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9"/>
          <p:cNvSpPr/>
          <p:nvPr/>
        </p:nvSpPr>
        <p:spPr>
          <a:xfrm>
            <a:off x="2450592" y="404164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Clareza na apresentação, resposta às perguntas do Arquiteto Sênior.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9"/>
          <p:cNvSpPr/>
          <p:nvPr/>
        </p:nvSpPr>
        <p:spPr>
          <a:xfrm>
            <a:off x="8302752" y="3730752"/>
            <a:ext cx="566928" cy="6583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19"/>
          <p:cNvSpPr/>
          <p:nvPr/>
        </p:nvSpPr>
        <p:spPr>
          <a:xfrm>
            <a:off x="8302752" y="3730752"/>
            <a:ext cx="56692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 pts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9"/>
          <p:cNvSpPr/>
          <p:nvPr/>
        </p:nvSpPr>
        <p:spPr>
          <a:xfrm>
            <a:off x="1920240" y="4370832"/>
            <a:ext cx="6949440" cy="402336"/>
          </a:xfrm>
          <a:prstGeom prst="rect">
            <a:avLst/>
          </a:prstGeom>
          <a:solidFill>
            <a:srgbClr val="E8F5E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19"/>
          <p:cNvSpPr/>
          <p:nvPr/>
        </p:nvSpPr>
        <p:spPr>
          <a:xfrm>
            <a:off x="2011680" y="4389120"/>
            <a:ext cx="6675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52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🧪  Labs Práticos (30% da NF):  </a:t>
            </a:r>
            <a:r>
              <a:rPr lang="en-US" sz="850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 labs × 7,5 pts cada  ·  Realizados ao final de cada dia </a:t>
            </a:r>
            <a:r>
              <a:rPr lang="en-US" sz="850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50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e 3</a:t>
            </a:r>
            <a:r>
              <a:rPr b="0" i="0" lang="en-US" sz="850" u="none" cap="none" strike="noStrike">
                <a:solidFill>
                  <a:srgbClr val="0F2B52"/>
                </a:solidFill>
                <a:latin typeface="Calibri"/>
                <a:ea typeface="Calibri"/>
                <a:cs typeface="Calibri"/>
                <a:sym typeface="Calibri"/>
              </a:rPr>
              <a:t>  ·  NF = (Labs × 0,30) + (PF × 0,70)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A35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0"/>
          <p:cNvSpPr/>
          <p:nvPr/>
        </p:nvSpPr>
        <p:spPr>
          <a:xfrm>
            <a:off x="6400800" y="731520"/>
            <a:ext cx="3200400" cy="3200400"/>
          </a:xfrm>
          <a:prstGeom prst="ellipse">
            <a:avLst/>
          </a:prstGeom>
          <a:solidFill>
            <a:srgbClr val="00B4D8">
              <a:alpha val="10196"/>
            </a:srgbClr>
          </a:solidFill>
          <a:ln cap="flat" cmpd="sng" w="12700">
            <a:solidFill>
              <a:srgbClr val="00B4D8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20"/>
          <p:cNvSpPr/>
          <p:nvPr/>
        </p:nvSpPr>
        <p:spPr>
          <a:xfrm>
            <a:off x="-731520" y="2926080"/>
            <a:ext cx="2286000" cy="2286000"/>
          </a:xfrm>
          <a:prstGeom prst="ellipse">
            <a:avLst/>
          </a:prstGeom>
          <a:solidFill>
            <a:srgbClr val="F5A623">
              <a:alpha val="10196"/>
            </a:srgbClr>
          </a:solidFill>
          <a:ln cap="flat" cmpd="sng" w="12700">
            <a:solidFill>
              <a:srgbClr val="F5A623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20"/>
          <p:cNvSpPr/>
          <p:nvPr/>
        </p:nvSpPr>
        <p:spPr>
          <a:xfrm>
            <a:off x="1371600" y="822960"/>
            <a:ext cx="640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Pronto para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20"/>
          <p:cNvSpPr/>
          <p:nvPr/>
        </p:nvSpPr>
        <p:spPr>
          <a:xfrm>
            <a:off x="914400" y="150876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Construir Sem Servidores?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20"/>
          <p:cNvSpPr/>
          <p:nvPr/>
        </p:nvSpPr>
        <p:spPr>
          <a:xfrm>
            <a:off x="2743200" y="2331720"/>
            <a:ext cx="3657600" cy="54864"/>
          </a:xfrm>
          <a:prstGeom prst="rect">
            <a:avLst/>
          </a:prstGeom>
          <a:solidFill>
            <a:srgbClr val="F5A623"/>
          </a:solidFill>
          <a:ln cap="flat" cmpd="sng" w="12700">
            <a:solidFill>
              <a:srgbClr val="F5A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0"/>
          <p:cNvSpPr/>
          <p:nvPr/>
        </p:nvSpPr>
        <p:spPr>
          <a:xfrm>
            <a:off x="914400" y="2514600"/>
            <a:ext cx="7315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Prof. Bruno Vinícius Barroso Cavalcanti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20"/>
          <p:cNvSpPr/>
          <p:nvPr/>
        </p:nvSpPr>
        <p:spPr>
          <a:xfrm>
            <a:off x="914400" y="28803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AWS Solutions Architect Professional  ·  CKA  ·  Terraform Associate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0"/>
          <p:cNvSpPr/>
          <p:nvPr/>
        </p:nvSpPr>
        <p:spPr>
          <a:xfrm>
            <a:off x="914400" y="32004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A62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linkedin.com/in/bruno-cavalcanti-sre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2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0E20"/>
          </a:solidFill>
          <a:ln cap="flat" cmpd="sng" w="12700">
            <a:solidFill>
              <a:srgbClr val="060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0"/>
          <p:cNvSpPr/>
          <p:nvPr/>
        </p:nvSpPr>
        <p:spPr>
          <a:xfrm>
            <a:off x="274320" y="4690872"/>
            <a:ext cx="8595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Pós·Unifor  |  UNIFOR  |  Fortaleza-CE  |  2026.1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