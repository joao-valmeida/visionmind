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949440" y="-822960"/>
            <a:ext cx="2926080" cy="2926080"/>
          </a:xfrm>
          <a:prstGeom prst="ellipse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406640" y="-457200"/>
            <a:ext cx="2011680" cy="2011680"/>
          </a:xfrm>
          <a:prstGeom prst="ellipse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73152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Computação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46304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Sem Servidores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304288"/>
            <a:ext cx="50292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468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63347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Pós-Graduação Lato Sensu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29443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INSTITUIÇÃO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Universidade de Fortaleza – UNIFOR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198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CARGA HORÁRIA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7200" y="358444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20h  ·  5 dias  ·  Semestre 2026.1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913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⚡  Plataformas: AWS Lambda  ·  Azure Functions  ·  Knative / Kubernetes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Prof. Bruno Vinícius Barroso Cavalcanti  ·  AWS Solutions Architect Professional  ·  CKA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Pós·Unifor  |  Centro de Pós-Graduação  |  unifor.br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5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82880" y="4572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Bruno Vinícius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82880" y="8686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Barroso Cavalcanti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82880" y="1417320"/>
            <a:ext cx="128016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82880" y="14173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82880" y="1728216"/>
            <a:ext cx="128016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82880" y="17282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CKA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82880" y="2039112"/>
            <a:ext cx="128016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82880" y="203911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82880" y="2350008"/>
            <a:ext cx="128016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82880" y="23500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82880" y="2788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Especialista SRE · Cloud Architect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82880" y="3063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linkedin.com/in/bruno-cavalcanti-sre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1440" y="46634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Pós-UNIFOR  ·  2026.1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91840" y="0"/>
            <a:ext cx="5852160" cy="50292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474720" y="45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Sobre o Professor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91840" y="502920"/>
            <a:ext cx="585216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429000" y="685800"/>
            <a:ext cx="5486400" cy="8686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566160" y="740664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🏢  Experiência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566160" y="99669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14+ anos em infraestrutura de TI, SRE e Cloud Architecture. Consultor em projetos de missão crítica para saúde, fintech e e-commerce.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429000" y="1636776"/>
            <a:ext cx="5486400" cy="8686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566160" y="169164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 Serverless na Prática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566160" y="194767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Projetos reais com AWS Lambda, Step Functions, EventBridge, Azure Functions, Knative e Kubernetes em produção.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29000" y="2587752"/>
            <a:ext cx="5486400" cy="8686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566160" y="2642616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🎓  Formação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566160" y="289864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Pós-Graduado em Cloud Computing · AWS Solutions Architect Professional · CKA (Certified Kubernetes Administrator).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429000" y="3538728"/>
            <a:ext cx="5486400" cy="8686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566160" y="35935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📚  Ensino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566160" y="384962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Professor de pós-graduação na UNIFOR. Criador de cursos na Alura. Especialidade em tornar infraestrutura complexa acessível e prática.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de Ensino — Como Funcionam as Aulas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74320" y="8229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🕐  Horários das Aulas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74320" y="1170432"/>
            <a:ext cx="3931920" cy="84124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74320" y="1170432"/>
            <a:ext cx="64008" cy="8412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11480" y="122529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🌙  Aulas de Semana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11480" y="1463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19:00 às 22:30  ·  com intervalo de 20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11480" y="16642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Aula direta: liberação às 22:10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74320" y="2103120"/>
            <a:ext cx="3931920" cy="84124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74320" y="2103120"/>
            <a:ext cx="64008" cy="8412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11480" y="215798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☀  Aulas de Sábado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1480" y="23957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08:00 às 12:00  ·  com intervalo de 20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" y="259689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Aula direta: liberação às 11:40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74320" y="3108960"/>
            <a:ext cx="3931920" cy="45720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65760" y="312724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  Dias de Aula:  12 · 13  de jun  e  18 · 19 · 20  de jun 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434840" y="822960"/>
            <a:ext cx="36576" cy="38404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663440" y="8229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📋  Dinâmica das Aulas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63440" y="1170432"/>
            <a:ext cx="420624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709160" y="12161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166360" y="12161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Teoria + Laboratório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166360" y="1472184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tópico é apresentado com conceito teórico + hands-on prático (AWS / Azure / Kubernetes).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663440" y="2066544"/>
            <a:ext cx="420624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709160" y="21122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166360" y="211226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Progressão Incremental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166360" y="2368296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 Dia 1 ao 4, você constrói componentes que se unem no projeto final.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2962656"/>
            <a:ext cx="420624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709160" y="30083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166360" y="30083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Mentoria no Dia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166360" y="3264408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Parte final do Dia 4 dedicada a tirar dúvidas para o Projeto Final.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663440" y="3858768"/>
            <a:ext cx="420624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709160" y="39044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166360" y="39044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Defesa no Dia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166360" y="416052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Prof. como Arquiteto Sênior · Você como Engenheiro de Plataforma. Defesa técnica.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Critérios de Aprovação — Normas da Pós-Graduação UNIFOR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822960"/>
            <a:ext cx="4206240" cy="3383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11480" y="841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1480" y="13258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📊  Média Final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108960" y="1280160"/>
            <a:ext cx="118872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108960" y="128016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7,0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11480" y="192024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aluno precisa atingir média final mínima de 7,0 para ser aprovado.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11480" y="23591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NF = (Média Labs × 0,30) + (Nota Projeto Final × 0,70)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11480" y="279806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⚠  Nota abaixo de 7,0 resulta em reprovação, independente da frequência.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0" y="822960"/>
            <a:ext cx="4206240" cy="3383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754880" y="822960"/>
            <a:ext cx="4206240" cy="4114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892040" y="841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892040" y="13258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📅  Frequência Mínima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589520" y="1280160"/>
            <a:ext cx="1188720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589520" y="128016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75%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92040" y="192024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aluno precisa de no mínimo 75% de frequência nas aulas para ser aprovado.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92040" y="23591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 uma disciplina de 5 dias, são permitidas no máximo 1 falta.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892040" y="279806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⚠  Frequência abaixo de 75% resulta em reprovação, mesmo com nota suficiente.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65760" y="4334256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APROVADO = Critério 01 (Nota ≥ 7,0)   E   Critério 02 (Frequência ≥ 75%)  —  Ambos devem ser atendidos simultaneamente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Estrutura da Disciplina  —  5 Unidades · 20 Horas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74320" y="804672"/>
            <a:ext cx="640080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74320" y="804672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60120" y="804672"/>
            <a:ext cx="7223760" cy="6583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097280" y="85953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Fundamentos Serverless e FaaS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97280" y="11338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Paradigma · Modelos de Execução · Cold Start · EDA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046720" y="804672"/>
            <a:ext cx="914400" cy="658368"/>
          </a:xfrm>
          <a:prstGeom prst="rect">
            <a:avLst/>
          </a:prstGeom>
          <a:solidFill>
            <a:srgbClr val="00B4D8">
              <a:alpha val="20000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8046720" y="804672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4320" y="1554480"/>
            <a:ext cx="640080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74320" y="1554480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60120" y="1554480"/>
            <a:ext cx="7223760" cy="6583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97280" y="160934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AWS Lambda Avançado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97280" y="188366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Functions · EventBridge · API Gateway · Segurança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046720" y="1554480"/>
            <a:ext cx="914400" cy="658368"/>
          </a:xfrm>
          <a:prstGeom prst="rect">
            <a:avLst/>
          </a:prstGeom>
          <a:solidFill>
            <a:srgbClr val="F5A623">
              <a:alpha val="20000"/>
            </a:srgbClr>
          </a:solidFill>
          <a:ln cap="flat" cmpd="sng" w="12700">
            <a:solidFill>
              <a:srgbClr val="F5A62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046720" y="15544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74320" y="2304288"/>
            <a:ext cx="640080" cy="6583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74320" y="2304288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60120" y="2304288"/>
            <a:ext cx="7223760" cy="6583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097280" y="235915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Azure Functions e Multi-Cloud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097280" y="263347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Planos · Bindings · Durable Functions · Comparativo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046720" y="2304288"/>
            <a:ext cx="914400" cy="658368"/>
          </a:xfrm>
          <a:prstGeom prst="rect">
            <a:avLst/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046720" y="230428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74320" y="3054096"/>
            <a:ext cx="64008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74320" y="3054096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60120" y="3054096"/>
            <a:ext cx="7223760" cy="6583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097280" y="310896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Kubernetes Nativo com Knative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097280" y="338328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Serving · Eventing · Autoscaling · Observabilidade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046720" y="3054096"/>
            <a:ext cx="914400" cy="658368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046720" y="3054096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4320" y="3803904"/>
            <a:ext cx="640080" cy="6583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74320" y="3803904"/>
            <a:ext cx="640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960120" y="3803904"/>
            <a:ext cx="7223760" cy="6583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097280" y="3858768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Projeto Final Aplicado — Defesa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097280" y="413308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Arquitetura Multi-plataforma · FinOps · Segurança · Defesa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046720" y="3803904"/>
            <a:ext cx="914400" cy="658368"/>
          </a:xfrm>
          <a:prstGeom prst="rect">
            <a:avLst/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046720" y="3803904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74320" y="4599432"/>
            <a:ext cx="8686800" cy="329184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7200" y="461772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 20 horas  ·  5 dias de aula  ·  12, 13, 18, 19 e 20 de junho de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5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5943600" y="182880"/>
            <a:ext cx="3657600" cy="3657600"/>
          </a:xfrm>
          <a:prstGeom prst="ellipse">
            <a:avLst/>
          </a:prstGeom>
          <a:solidFill>
            <a:srgbClr val="00B4D8">
              <a:alpha val="14901"/>
            </a:srgbClr>
          </a:solidFill>
          <a:ln cap="flat" cmpd="sng" w="12700">
            <a:solidFill>
              <a:srgbClr val="00B4D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858000" y="1097280"/>
            <a:ext cx="2286000" cy="2286000"/>
          </a:xfrm>
          <a:prstGeom prst="ellipse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57200" y="7315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1371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Fundamentos Serverless e FaaS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1920240"/>
            <a:ext cx="36576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57200" y="21031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O que é o paradigma Serverless?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23774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Function-as-a-Service (FaaS)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" y="265176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Arquitetura Orientada a Eventos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29260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Cold Start · Warm Start · Lifecycle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320040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Comparativo: Serverless vs Containers vs VMs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315200" y="47731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74320" y="47731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horas  ·  Dia 1 de aula  (12/06/2026  19h)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é Computação Sem Servidores?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Paradigma · Evolução · FaaS · Event-Driven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" y="1005840"/>
            <a:ext cx="2834640" cy="13258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74320" y="1005840"/>
            <a:ext cx="64008" cy="1325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11480" y="106070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Paradigma Serverless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11480" y="1371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desenvolvedor foca no código, sem gerenciar infraestrutura. O provedor provisiona, escala e cobra apenas pela execução.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246120" y="1005840"/>
            <a:ext cx="2834640" cy="13258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246120" y="1005840"/>
            <a:ext cx="64008" cy="1325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383280" y="106070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Function-as-a-Service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383280" y="1371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Unidade de deploy é uma função. Executada em resposta a eventos. Stateless por natureza. Auto-scale automático.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217920" y="1005840"/>
            <a:ext cx="2834640" cy="13258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217920" y="1005840"/>
            <a:ext cx="64008" cy="13258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355080" y="106070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Event-Driven 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355080" y="1371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Componentes se comunicam via eventos assíncronos (fila, tópico, webhook). Alta coesão + baixo acoplamento.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74320" y="24871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Ciclo de Vida de uma Função (FaaS)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74320" y="2834640"/>
            <a:ext cx="1371600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274320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Evento Gatilho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664208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755648" y="2834640"/>
            <a:ext cx="1371600" cy="502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755648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 Init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145536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236976" y="2834640"/>
            <a:ext cx="137160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236976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Cold Start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626864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718304" y="2834640"/>
            <a:ext cx="137160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718304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108192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199632" y="2834640"/>
            <a:ext cx="137160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199632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 / Warm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589520" y="296265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680960" y="2834640"/>
            <a:ext cx="1371600" cy="5029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7680960" y="28346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Término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34930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Comparativo: Serverless vs Containers vs VMs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274320" y="3822192"/>
            <a:ext cx="2286000" cy="2011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20040" y="3822192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560320" y="3822192"/>
            <a:ext cx="1828800" cy="2011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606040" y="38221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389120" y="3822192"/>
            <a:ext cx="1828800" cy="2011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434840" y="38221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217920" y="3822192"/>
            <a:ext cx="1828800" cy="2011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263640" y="38221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74320" y="4023360"/>
            <a:ext cx="22860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20040" y="402336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Gestão de Infra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2560320" y="4023360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606040" y="402336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Nenhuma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389120" y="4023360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434840" y="402336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217920" y="4023360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63640" y="402336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74320" y="4224528"/>
            <a:ext cx="2286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20040" y="422452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560320" y="4224528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2606040" y="42245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389120" y="4224528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434840" y="42245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Manual/Auto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17920" y="4224528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263640" y="42245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74320" y="4425696"/>
            <a:ext cx="22860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0040" y="442569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560320" y="4425696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2606040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execução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389120" y="4425696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434840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hora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217920" y="4425696"/>
            <a:ext cx="1828800" cy="2011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6263640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hora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274320" y="4626864"/>
            <a:ext cx="2286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320040" y="4626864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Cold 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560320" y="4626864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2606040" y="46268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Presente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389120" y="4626864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434840" y="46268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217920" y="4626864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263640" y="46268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Nenhum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/>
          <p:nvPr/>
        </p:nvSpPr>
        <p:spPr>
          <a:xfrm>
            <a:off x="6217920" y="457200"/>
            <a:ext cx="3200400" cy="3200400"/>
          </a:xfrm>
          <a:prstGeom prst="ellipse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675120" y="822960"/>
            <a:ext cx="2286000" cy="2286000"/>
          </a:xfrm>
          <a:prstGeom prst="ellipse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57200" y="64008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II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AWS Lambda Avançado e Integrações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57200" y="199339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Modelo de execução e anatomia de uma Lambda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57200" y="227685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Layers · Aliases · Versões · Concorrência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57200" y="256032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Integração: API Gateway · SQS · SNS · EventBridge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57200" y="284378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Orquestração com AWS Step Functions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57200" y="3127248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Segurança: IAM roles · VPC · Secrets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341071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FinOps: Cold Start, Arm64, Power 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315200" y="47731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74320" y="47731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horas  ·  Dia 2 de aula  (13/06/2026  08h)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Lambda — Arquitetura e Integrações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Sources · Execução · Step Functions · Segurança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274320" y="1005840"/>
            <a:ext cx="1645920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74320" y="1005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965960" y="11155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274320" y="1691640"/>
            <a:ext cx="164592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274320" y="1691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SQS / SNS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965960" y="1801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74320" y="2377440"/>
            <a:ext cx="1645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74320" y="2377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EventBridge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965960" y="24871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4320" y="3063240"/>
            <a:ext cx="164592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274320" y="3063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/ DynamoDB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965960" y="31729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377440" y="1371600"/>
            <a:ext cx="1828800" cy="182880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2377440" y="146304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251960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663440" y="1005840"/>
            <a:ext cx="164592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663440" y="1005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663440" y="1691640"/>
            <a:ext cx="164592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663440" y="1691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Bucket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663440" y="2377440"/>
            <a:ext cx="1645920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4663440" y="2377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SNS Topic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663440" y="3063240"/>
            <a:ext cx="164592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663440" y="3063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CloudWatch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6492240" y="914400"/>
            <a:ext cx="2377440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6492240" y="914400"/>
            <a:ext cx="64008" cy="12344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6629400" y="96926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AWS Step Functions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629400" y="1261872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Orquestração visual de Lambdas em workflows. Standard (longa duração) e Express (alta frequência).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492240" y="2267712"/>
            <a:ext cx="2377440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6492240" y="2267712"/>
            <a:ext cx="64008" cy="12344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6629400" y="232257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🔐  Segurança Lambda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629400" y="2615184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IAM Execution Role · VPC para isolamento · Secrets Manager · Resource Policy · Lambda Authorizer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74320" y="3639312"/>
            <a:ext cx="603504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457200" y="3675888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FinOps Lambda: Arm64 (Graviton) reduz custo em até 20% · Power Tuning Tool otimiza memória/duração · Prefira Provisioned Concurrency só onde necessário.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69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7C3AED">
              <a:alpha val="14901"/>
            </a:srgbClr>
          </a:solidFill>
          <a:ln cap="flat" cmpd="sng" w="12700">
            <a:solidFill>
              <a:srgbClr val="7C3AED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57200" y="64008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III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57200" y="12801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Azure Functions e Orquestração Multi-Cloud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7200" y="199339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Planos de hospedagem: Consumption · Premium · Dedicated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57200" y="22860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Triggers e Bindings de entrada e saída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257860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Durable Functions: Fan-out/Fan-in · Chaining · 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57200" y="287121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Comparativo AWS Lambda vs Azure Functions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57200" y="316382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Estratégia Multi-Cloud e portabilidade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7315200" y="47731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74320" y="47731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horas  ·  Dia 3 de aula  (18/06/2026  19h)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Functions — Planos, Triggers e Durable Functions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Consumption · Premium · Bindings · Orquestração Stateful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274320" y="8412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Planos de Hospedagem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74320" y="1170432"/>
            <a:ext cx="2798064" cy="1097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274320" y="1170432"/>
            <a:ext cx="2798064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365760" y="11795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365760" y="15087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Escala automática. Cobra por execução. Cold start presente.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3246120" y="1170432"/>
            <a:ext cx="2798064" cy="1097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246120" y="1170432"/>
            <a:ext cx="2798064" cy="29260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337560" y="11795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337560" y="15087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 cold start. VNet integration. Instances pré-aquecidas.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217920" y="1170432"/>
            <a:ext cx="2798064" cy="1097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6217920" y="1170432"/>
            <a:ext cx="2798064" cy="2926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6309360" y="11795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Dedicated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309360" y="15087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 Service Plan. Custo fixo. Workloads contínuos.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274320" y="2395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Triggers &amp; Bindings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274320" y="2724912"/>
            <a:ext cx="1664208" cy="3200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274320" y="2724912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2029968" y="2724912"/>
            <a:ext cx="1664208" cy="3200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2029968" y="2724912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3785616" y="2724912"/>
            <a:ext cx="1664208" cy="3200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3785616" y="2724912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541264" y="2724912"/>
            <a:ext cx="1664208" cy="3200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541264" y="2724912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7296912" y="2724912"/>
            <a:ext cx="1664208" cy="3200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7296912" y="2724912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Hub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274320" y="3108960"/>
            <a:ext cx="1664208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274320" y="3108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Cosmos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2029968" y="3108960"/>
            <a:ext cx="1664208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2029968" y="3108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Bus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785616" y="3108960"/>
            <a:ext cx="1664208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3785616" y="3108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SignalR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541264" y="3108960"/>
            <a:ext cx="1664208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541264" y="3108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7296912" y="3108960"/>
            <a:ext cx="1664208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7296912" y="3108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Grid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274320" y="3547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Durable Functions — Orquestração Stateful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74320" y="3858768"/>
            <a:ext cx="2103120" cy="713232"/>
          </a:xfrm>
          <a:prstGeom prst="rect">
            <a:avLst/>
          </a:prstGeom>
          <a:solidFill>
            <a:srgbClr val="F0EB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274320" y="3858768"/>
            <a:ext cx="64008" cy="7132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393192" y="389534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Function Chaining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93192" y="4151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Sequência de funções em cadeia (output → input)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2487168" y="3858768"/>
            <a:ext cx="2103120" cy="713232"/>
          </a:xfrm>
          <a:prstGeom prst="rect">
            <a:avLst/>
          </a:prstGeom>
          <a:solidFill>
            <a:srgbClr val="F0EB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2487168" y="3858768"/>
            <a:ext cx="64008" cy="7132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2606040" y="389534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Fan-out / Fan-in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2606040" y="4151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Paraleliza tarefas e agrega resultados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700016" y="3858768"/>
            <a:ext cx="2103120" cy="713232"/>
          </a:xfrm>
          <a:prstGeom prst="rect">
            <a:avLst/>
          </a:prstGeom>
          <a:solidFill>
            <a:srgbClr val="F0EB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4700016" y="3858768"/>
            <a:ext cx="64008" cy="7132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4818888" y="389534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Async HTTP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818888" y="4151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Expõe status de longa duração via polling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6912864" y="3858768"/>
            <a:ext cx="2103120" cy="713232"/>
          </a:xfrm>
          <a:prstGeom prst="rect">
            <a:avLst/>
          </a:prstGeom>
          <a:solidFill>
            <a:srgbClr val="F0EB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912864" y="3858768"/>
            <a:ext cx="64008" cy="7132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7031736" y="389534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Monitor Pattern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7031736" y="415137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Loop flexível com sleep/retry (ex: health check)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D38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457200" y="64008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IV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Kubernetes Nativo com Knative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457200" y="199339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Por que Serverless no Kubernetes?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57200" y="22860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Knative Serving: auto-scale to zero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57200" y="257860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Knative Eventing: CloudEvents e Brokers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57200" y="287121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Observabilidade: Prometheus · Grafana · Jaeger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57200" y="316382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Comparativo: Knative vs Lambda vs Azure Functions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7315200" y="47731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274320" y="47731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horas  ·  Dia 4 de aula  (19/06/2026  19h)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Knative — Serverless Nativo no Kubernetes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Serving · Eventing · Auto-scale to Zero · CloudEvents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Arquitetura Knative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274320" y="1170432"/>
            <a:ext cx="8595360" cy="2560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411480" y="12070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Kubernetes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457200" y="1481328"/>
            <a:ext cx="2743200" cy="12344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548640" y="15179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Knative Serving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548640" y="1810512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Revision-based 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Auto-scale to zero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Traffic splitting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Custom domains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3474720" y="1481328"/>
            <a:ext cx="2743200" cy="1234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3566160" y="15179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Knative Eventing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3566160" y="1810512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CloudEvents standard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Brokers &amp; Triggers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Channels &amp; Subscriptions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Sources (GitHub, Kafka…)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6492240" y="1481328"/>
            <a:ext cx="2194560" cy="123444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6583680" y="151790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583680" y="1810512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Prometheus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Grafana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Jaeger (traces)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Structured logs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274320" y="3840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Quando usar cada plataforma?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274320" y="4169664"/>
            <a:ext cx="2798064" cy="621792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274320" y="4169664"/>
            <a:ext cx="64008" cy="62179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393192" y="41970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93192" y="44348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AWS nativo. Integração profunda com serviços AWS. Melhor para startups e workloads AWS-first.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3246120" y="4169664"/>
            <a:ext cx="2798064" cy="621792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3246120" y="4169664"/>
            <a:ext cx="64008" cy="62179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3364992" y="41970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Azure Functions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364992" y="44348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Ecossistema Microsoft. .NET, Azure DevOps, AKS. Ideal para empresas Microsoft-first.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6217920" y="4169664"/>
            <a:ext cx="2798064" cy="621792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6217920" y="4169664"/>
            <a:ext cx="64008" cy="6217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6336792" y="41970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6336792" y="44348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Multi-cloud ou on-prem. Kubernetes existente. Evita vendor lock-in. Infraestrutura corporativa.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1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457200" y="64008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V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7200" y="12801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Projeto Final Aplicado — Defesa Técnica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457200" y="199339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Recebe brief de negócio (startup fictícia)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57200" y="22860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Projeta arquitetura serverless multi-cloud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457200" y="257860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Implementa solução funcional e documentada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457200" y="287121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Análise de custo com estimativa real de TCO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457200" y="316382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▸  Apresenta e defende para o Prof. (Arquiteto Sênior)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7315200" y="47731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Pós·Unifor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274320" y="47731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horas  ·  Dia 5 de aula  (20/06/2026  08h)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Segurança em Arquiteturas Serverless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OWASP Serverless Top 10 · IAM · Secrets · Zero Trust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274320" y="82296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274320" y="822960"/>
            <a:ext cx="64008" cy="914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338328" y="822960"/>
            <a:ext cx="640080" cy="2926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338328" y="82296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393192" y="11521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Injeção em Funções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393192" y="14264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Validar todas as entradas. Nunca executar input como código.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3246120" y="82296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3246120" y="822960"/>
            <a:ext cx="64008" cy="9144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3310128" y="822960"/>
            <a:ext cx="640080" cy="29260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3310128" y="82296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3364992" y="11521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Broken 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3364992" y="14264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Usar Lambda Authorizer ou API Gateway Auth. JWT com exp curta.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6217920" y="82296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6217920" y="822960"/>
            <a:ext cx="64008" cy="9144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6281928" y="822960"/>
            <a:ext cx="640080" cy="2926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6281928" y="82296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6336792" y="11521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Data Exposure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6336792" y="14264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Nunca logar secrets. Usar Secrets Manager / Key Vault.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274320" y="182880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274320" y="1828800"/>
            <a:ext cx="64008" cy="914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338328" y="1828800"/>
            <a:ext cx="64008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338328" y="182880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393192" y="21579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Over-permissive IAM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393192" y="2432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Menor privilégio: cada função com role específica. SCPs.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3246120" y="182880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3246120" y="1828800"/>
            <a:ext cx="64008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3310128" y="1828800"/>
            <a:ext cx="640080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3310128" y="182880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3364992" y="21579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Insecure Deps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3364992" y="2432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Escanear Layers e packages. Usar ECR scanning ou Dependabot.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6217920" y="1828800"/>
            <a:ext cx="2798064" cy="914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6217920" y="1828800"/>
            <a:ext cx="64008" cy="9144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6281928" y="1828800"/>
            <a:ext cx="640080" cy="2926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6281928" y="182880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6336792" y="21579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DoS / Cost Explosion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336792" y="24323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Throttling no API GW. Concurrency limits. Budget Alerts.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274320" y="2834640"/>
            <a:ext cx="8595360" cy="50292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457200" y="2871216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  Princípio Zero Trust: Nunca confiar, sempre verificar. Toda função deve autenticar e autorizar cada chamada individualmente.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274320" y="3456432"/>
            <a:ext cx="205740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365760" y="3511296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✅  Least privilege IAM por função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2441448" y="3456432"/>
            <a:ext cx="205740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2532888" y="3511296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✅  Secrets Manager (nunca env vars em texto)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4608576" y="3456432"/>
            <a:ext cx="205740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4700016" y="3511296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✅  VPC Endpoints para serviços internos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775704" y="3456432"/>
            <a:ext cx="205740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6867144" y="3511296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✅  WAF + API Gateway throttling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FinOps em Ambientes Serverless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Otimização de Custo · Cold Start · Right-sizing · Alertas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274320" y="822960"/>
            <a:ext cx="2798064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274320" y="822960"/>
            <a:ext cx="27980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Inform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274320" y="1234440"/>
            <a:ext cx="2798064" cy="1828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411480" y="132588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Cost Explorer (AWS)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411480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Azure Cost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411480" y="211226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CloudWatch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411480" y="250545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Billing Alerts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3246120" y="822960"/>
            <a:ext cx="2798064" cy="38404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3246120" y="822960"/>
            <a:ext cx="27980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Optimize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3246120" y="1234440"/>
            <a:ext cx="2798064" cy="1828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3383280" y="132588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Arm64 / Graviton (−20%)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3383280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Power Tuning Lambda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3383280" y="211226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Provisioned Concurrency seletivo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3383280" y="250545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Timeout agressivo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6217920" y="822960"/>
            <a:ext cx="27980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6217920" y="822960"/>
            <a:ext cx="27980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Operate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6217920" y="1234440"/>
            <a:ext cx="2798064" cy="1828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"/>
          <p:cNvSpPr/>
          <p:nvPr/>
        </p:nvSpPr>
        <p:spPr>
          <a:xfrm>
            <a:off x="6355080" y="132588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Budget Alerts automáticos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6355080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Concurrency Limits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6355080" y="211226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Dead Letter Queue (DLQ)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6355080" y="250545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▸  Tagging por projeto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274320" y="31272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Impacto do Cold Start por Runtime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274320" y="345643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1691640" y="3483864"/>
            <a:ext cx="1463040" cy="19202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3246120" y="345643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200ms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274320" y="372160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Node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1691640" y="3749040"/>
            <a:ext cx="1828800" cy="19202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3611880" y="372160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250ms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274320" y="398678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Java 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1691640" y="4014216"/>
            <a:ext cx="6583680" cy="19202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8366760" y="398678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900ms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274320" y="425196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.NET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1691640" y="4279392"/>
            <a:ext cx="4389120" cy="19202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8"/>
          <p:cNvSpPr/>
          <p:nvPr/>
        </p:nvSpPr>
        <p:spPr>
          <a:xfrm>
            <a:off x="6172200" y="425196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600ms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74320" y="45171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 1.22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1691640" y="4544568"/>
            <a:ext cx="1097280" cy="19202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2880360" y="451713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150ms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274320" y="27432"/>
            <a:ext cx="7772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Critérios de Avaliação — Projeto Final Serverless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· Implementação · Segurança · FinOps · Defesa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81A35"/>
          </a:solidFill>
          <a:ln cap="flat" cmpd="sng" w="12700">
            <a:solidFill>
              <a:srgbClr val="081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9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Computação Sem Servidores  ·  Pós-Graduação UNIFOR  ·  2026.1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Prof. Bruno Cavalcanti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274320" y="822960"/>
            <a:ext cx="1463040" cy="2286000"/>
          </a:xfrm>
          <a:prstGeom prst="rect">
            <a:avLst/>
          </a:prstGeom>
          <a:solidFill>
            <a:srgbClr val="0F2B52"/>
          </a:solidFill>
          <a:ln cap="flat" cmpd="sng" w="12700">
            <a:solidFill>
              <a:srgbClr val="0F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274320" y="10058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274320" y="1600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274320" y="21031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274320" y="27432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Dia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1920240" y="804672"/>
            <a:ext cx="694944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1993392" y="87782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2450592" y="85953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Arquitetura e Decisão Técnica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2450592" y="11155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Escolha justificada de plataforma(s), padrões de design e diagrama completo.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8302752" y="804672"/>
            <a:ext cx="566928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9"/>
          <p:cNvSpPr/>
          <p:nvPr/>
        </p:nvSpPr>
        <p:spPr>
          <a:xfrm>
            <a:off x="8302752" y="804672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1920240" y="1536192"/>
            <a:ext cx="694944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1993392" y="160934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2450592" y="15910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Implementação Funcional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2450592" y="18470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Código funcionando. Deploy realizado. Funções respondendo conforme esperado.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8302752" y="1536192"/>
            <a:ext cx="566928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8302752" y="1536192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1920240" y="2267712"/>
            <a:ext cx="694944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1993392" y="234086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2450592" y="232257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Segurança (IAM + OWASP)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/>
          <p:nvPr/>
        </p:nvSpPr>
        <p:spPr>
          <a:xfrm>
            <a:off x="2450592" y="25786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IAM least privilege, segredos protegidos, sem vulnerabilidades OWASP críticas.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8302752" y="2267712"/>
            <a:ext cx="566928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9"/>
          <p:cNvSpPr/>
          <p:nvPr/>
        </p:nvSpPr>
        <p:spPr>
          <a:xfrm>
            <a:off x="8302752" y="2267712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/>
          <p:nvPr/>
        </p:nvSpPr>
        <p:spPr>
          <a:xfrm>
            <a:off x="1920240" y="2999232"/>
            <a:ext cx="694944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1993392" y="307238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2450592" y="305409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FinOps e Estimativa de Custo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9"/>
          <p:cNvSpPr/>
          <p:nvPr/>
        </p:nvSpPr>
        <p:spPr>
          <a:xfrm>
            <a:off x="2450592" y="33101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Estimativa realista de TCO com AWS Pricing / Azure Calculator + otimizações.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8302752" y="2999232"/>
            <a:ext cx="566928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9"/>
          <p:cNvSpPr/>
          <p:nvPr/>
        </p:nvSpPr>
        <p:spPr>
          <a:xfrm>
            <a:off x="8302752" y="2999232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9"/>
          <p:cNvSpPr/>
          <p:nvPr/>
        </p:nvSpPr>
        <p:spPr>
          <a:xfrm>
            <a:off x="1920240" y="3730752"/>
            <a:ext cx="694944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1993392" y="380390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2450592" y="378561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Defesa Técnica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2450592" y="404164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Clareza na apresentação, resposta às perguntas do Arquiteto Sênior.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8302752" y="3730752"/>
            <a:ext cx="566928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/>
          <p:nvPr/>
        </p:nvSpPr>
        <p:spPr>
          <a:xfrm>
            <a:off x="8302752" y="3730752"/>
            <a:ext cx="5669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pts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1920240" y="4370832"/>
            <a:ext cx="6949440" cy="402336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"/>
          <p:cNvSpPr/>
          <p:nvPr/>
        </p:nvSpPr>
        <p:spPr>
          <a:xfrm>
            <a:off x="2011680" y="438912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5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B52"/>
                </a:solidFill>
                <a:latin typeface="Calibri"/>
                <a:ea typeface="Calibri"/>
                <a:cs typeface="Calibri"/>
                <a:sym typeface="Calibri"/>
              </a:rPr>
              <a:t>🧪  Labs Práticos (30% da NF):  4 labs × 7,5 pts cada  ·  Realizados ao final de cada dia 1 a 4  ·  NF = (Labs × 0,30) + (PF × 0,70)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>
            <a:off x="6400800" y="731520"/>
            <a:ext cx="3200400" cy="320040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12700">
            <a:solidFill>
              <a:srgbClr val="00B4D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0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F5A623">
              <a:alpha val="10196"/>
            </a:srgbClr>
          </a:solidFill>
          <a:ln cap="flat" cmpd="sng" w="12700">
            <a:solidFill>
              <a:srgbClr val="F5A62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"/>
          <p:cNvSpPr/>
          <p:nvPr/>
        </p:nvSpPr>
        <p:spPr>
          <a:xfrm>
            <a:off x="1371600" y="82296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Pronto para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914400" y="15087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Construir Sem Servidores?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2743200" y="2331720"/>
            <a:ext cx="3657600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0"/>
          <p:cNvSpPr/>
          <p:nvPr/>
        </p:nvSpPr>
        <p:spPr>
          <a:xfrm>
            <a:off x="914400" y="25146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Bruno Vinícius Barroso Cavalcanti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AWS Solutions Architect Professional  ·  CKA  ·  Terraform Associate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linkedin.com/in/bruno-cavalcanti-sre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E20"/>
          </a:solidFill>
          <a:ln cap="flat" cmpd="sng" w="12700">
            <a:solidFill>
              <a:srgbClr val="060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0"/>
          <p:cNvSpPr/>
          <p:nvPr/>
        </p:nvSpPr>
        <p:spPr>
          <a:xfrm>
            <a:off x="274320" y="4690872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Pós·Unifor  |  UNIFOR  |  Fortaleza-CE  |  2026.1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